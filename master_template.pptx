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75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701B65-9D87-4785-8E65-F748D9EA3CC9}">
  <a:tblStyle styleId="{0A701B65-9D87-4785-8E65-F748D9EA3CC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75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7c7e4bd71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e7c7e4bd71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113f3844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e113f3844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7c7e4bd71_3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e7c7e4bd71_3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10d5022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10d5022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7c7e4bd71_3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e7c7e4bd71_3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7c7e4bd71_0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e7c7e4bd7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7c7e4bd71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e7c7e4bd71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16fe3cea6_0_6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e16fe3cea6_0_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7c7e4bd71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e7c7e4bd7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16fe3cea6_0_6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e16fe3cea6_0_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7c7e4bd71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g3e7c7e4bd7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e7c7e4bd71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g3e7c7e4bd71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e7c7e4bd71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3e7c7e4bd71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0" name="Google Shape;20;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1" name="Google Shape;21;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83850" y="96450"/>
            <a:ext cx="7540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800">
                <a:solidFill>
                  <a:srgbClr val="FFFFFF"/>
                </a:solidFill>
                <a:latin typeface="Calibri"/>
                <a:ea typeface="Calibri"/>
                <a:cs typeface="Calibri"/>
                <a:sym typeface="Calibri"/>
              </a:rPr>
              <a:t>{{company_name}}</a:t>
            </a:r>
            <a:endParaRPr b="1" sz="1800">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12"/>
          <p:cNvPicPr preferRelativeResize="0"/>
          <p:nvPr/>
        </p:nvPicPr>
        <p:blipFill rotWithShape="1">
          <a:blip r:embed="rId3">
            <a:alphaModFix/>
          </a:blip>
          <a:srcRect b="13410" l="0" r="0" t="14027"/>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5" name="Google Shape;55;p12"/>
          <p:cNvSpPr/>
          <p:nvPr/>
        </p:nvSpPr>
        <p:spPr>
          <a:xfrm>
            <a:off x="126455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CMP</a:t>
            </a:r>
            <a:endParaRPr b="0" i="0" sz="800" u="none" cap="none" strike="noStrik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{{cmp}}</a:t>
            </a:r>
            <a:endParaRPr b="0" i="0" sz="1219" u="none" cap="none" strike="noStrik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8" name="Google Shape;58;p12"/>
          <p:cNvSpPr/>
          <p:nvPr/>
        </p:nvSpPr>
        <p:spPr>
          <a:xfrm>
            <a:off x="235001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Target Price</a:t>
            </a:r>
            <a:endParaRPr b="0" i="0" sz="800" u="none" cap="none" strike="noStrik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19"/>
              <a:buFont typeface="Calibri"/>
              <a:buNone/>
            </a:pPr>
            <a:r>
              <a:rPr b="1" lang="en-GB" sz="1219">
                <a:solidFill>
                  <a:srgbClr val="16A34A"/>
                </a:solidFill>
                <a:latin typeface="Calibri"/>
                <a:ea typeface="Calibri"/>
                <a:cs typeface="Calibri"/>
                <a:sym typeface="Calibri"/>
              </a:rPr>
              <a:t>{{target}}</a:t>
            </a:r>
            <a:endParaRPr b="0" i="0" sz="1219" u="none" cap="none" strike="noStrike">
              <a:solidFill>
                <a:srgbClr val="000000"/>
              </a:solidFill>
              <a:latin typeface="Calibri"/>
              <a:ea typeface="Calibri"/>
              <a:cs typeface="Calibri"/>
              <a:sym typeface="Calibri"/>
            </a:endParaRPr>
          </a:p>
        </p:txBody>
      </p:sp>
      <p:sp>
        <p:nvSpPr>
          <p:cNvPr id="60" name="Google Shape;60;p12"/>
          <p:cNvSpPr/>
          <p:nvPr/>
        </p:nvSpPr>
        <p:spPr>
          <a:xfrm>
            <a:off x="5526736" y="529300"/>
            <a:ext cx="13824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1" name="Google Shape;61;p12"/>
          <p:cNvSpPr/>
          <p:nvPr/>
        </p:nvSpPr>
        <p:spPr>
          <a:xfrm>
            <a:off x="5631600" y="572550"/>
            <a:ext cx="1197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b="0" i="0" sz="800" u="none" cap="none" strike="noStrike">
              <a:solidFill>
                <a:srgbClr val="000000"/>
              </a:solidFill>
              <a:latin typeface="Calibri"/>
              <a:ea typeface="Calibri"/>
              <a:cs typeface="Calibri"/>
              <a:sym typeface="Calibri"/>
            </a:endParaRPr>
          </a:p>
        </p:txBody>
      </p:sp>
      <p:sp>
        <p:nvSpPr>
          <p:cNvPr id="62" name="Google Shape;62;p12"/>
          <p:cNvSpPr/>
          <p:nvPr/>
        </p:nvSpPr>
        <p:spPr>
          <a:xfrm>
            <a:off x="5600467" y="706074"/>
            <a:ext cx="1244100" cy="21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4690"/>
              </a:buClr>
              <a:buSzPts val="1800"/>
              <a:buFont typeface="Calibri"/>
              <a:buNone/>
            </a:pPr>
            <a:r>
              <a:rPr b="1" lang="en-GB" sz="1200">
                <a:solidFill>
                  <a:srgbClr val="1F4690"/>
                </a:solidFill>
                <a:latin typeface="Calibri"/>
                <a:ea typeface="Calibri"/>
                <a:cs typeface="Calibri"/>
                <a:sym typeface="Calibri"/>
              </a:rPr>
              <a:t>{{m_category}}</a:t>
            </a:r>
            <a:endParaRPr b="1" sz="1200">
              <a:solidFill>
                <a:srgbClr val="1F4690"/>
              </a:solidFill>
              <a:latin typeface="Calibri"/>
              <a:ea typeface="Calibri"/>
              <a:cs typeface="Calibri"/>
              <a:sym typeface="Calibri"/>
            </a:endParaRPr>
          </a:p>
        </p:txBody>
      </p:sp>
      <p:sp>
        <p:nvSpPr>
          <p:cNvPr id="63" name="Google Shape;63;p12"/>
          <p:cNvSpPr/>
          <p:nvPr/>
        </p:nvSpPr>
        <p:spPr>
          <a:xfrm>
            <a:off x="4441269"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4" name="Google Shape;64;p12"/>
          <p:cNvSpPr/>
          <p:nvPr/>
        </p:nvSpPr>
        <p:spPr>
          <a:xfrm>
            <a:off x="4520973"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b="0" i="0" sz="800" u="none" cap="none" strike="noStrike">
              <a:solidFill>
                <a:srgbClr val="000000"/>
              </a:solidFill>
              <a:latin typeface="Calibri"/>
              <a:ea typeface="Calibri"/>
              <a:cs typeface="Calibri"/>
              <a:sym typeface="Calibri"/>
            </a:endParaRPr>
          </a:p>
        </p:txBody>
      </p:sp>
      <p:sp>
        <p:nvSpPr>
          <p:cNvPr id="65" name="Google Shape;65;p12"/>
          <p:cNvSpPr/>
          <p:nvPr/>
        </p:nvSpPr>
        <p:spPr>
          <a:xfrm>
            <a:off x="4494872"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{{m_cap}}</a:t>
            </a:r>
            <a:endParaRPr b="0" i="0" sz="1219" u="none" cap="none" strike="noStrike">
              <a:solidFill>
                <a:srgbClr val="000000"/>
              </a:solidFill>
              <a:latin typeface="Calibri"/>
              <a:ea typeface="Calibri"/>
              <a:cs typeface="Calibri"/>
              <a:sym typeface="Calibri"/>
            </a:endParaRPr>
          </a:p>
        </p:txBody>
      </p:sp>
      <p:sp>
        <p:nvSpPr>
          <p:cNvPr id="66" name="Google Shape;66;p12"/>
          <p:cNvSpPr/>
          <p:nvPr/>
        </p:nvSpPr>
        <p:spPr>
          <a:xfrm>
            <a:off x="6989609"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7" name="Google Shape;67;p12"/>
          <p:cNvSpPr/>
          <p:nvPr/>
        </p:nvSpPr>
        <p:spPr>
          <a:xfrm>
            <a:off x="7069313"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b="0" i="0" sz="800" u="none" cap="none" strike="noStrike">
              <a:solidFill>
                <a:srgbClr val="000000"/>
              </a:solidFill>
              <a:latin typeface="Calibri"/>
              <a:ea typeface="Calibri"/>
              <a:cs typeface="Calibri"/>
              <a:sym typeface="Calibri"/>
            </a:endParaRPr>
          </a:p>
        </p:txBody>
      </p:sp>
      <p:sp>
        <p:nvSpPr>
          <p:cNvPr id="68" name="Google Shape;68;p12"/>
          <p:cNvSpPr/>
          <p:nvPr/>
        </p:nvSpPr>
        <p:spPr>
          <a:xfrm>
            <a:off x="7043212"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19"/>
              <a:buFont typeface="Calibri"/>
              <a:buNone/>
            </a:pPr>
            <a:r>
              <a:rPr b="1" lang="en-GB" sz="1219">
                <a:solidFill>
                  <a:srgbClr val="1F4690"/>
                </a:solidFill>
                <a:latin typeface="Calibri"/>
                <a:ea typeface="Calibri"/>
                <a:cs typeface="Calibri"/>
                <a:sym typeface="Calibri"/>
              </a:rPr>
              <a:t>{{saarthi_s}}</a:t>
            </a:r>
            <a:endParaRPr b="0" i="0" sz="1219" u="none" cap="none" strike="noStrik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70" name="Google Shape;70;p12"/>
          <p:cNvSpPr/>
          <p:nvPr/>
        </p:nvSpPr>
        <p:spPr>
          <a:xfrm>
            <a:off x="1790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b="0" i="0" sz="800" u="none" cap="none" strike="noStrik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{{nse_code}}</a:t>
            </a:r>
            <a:endParaRPr b="0" i="0" sz="1219" u="none" cap="none" strike="noStrik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{{tagline}}</a:t>
            </a:r>
            <a:endParaRPr b="1" sz="1200">
              <a:solidFill>
                <a:srgbClr val="FFFFFF"/>
              </a:solidFill>
              <a:latin typeface="Calibri"/>
              <a:ea typeface="Calibri"/>
              <a:cs typeface="Calibri"/>
              <a:sym typeface="Calibri"/>
            </a:endParaRPr>
          </a:p>
        </p:txBody>
      </p:sp>
      <p:sp>
        <p:nvSpPr>
          <p:cNvPr id="73" name="Google Shape;73;p12"/>
          <p:cNvSpPr/>
          <p:nvPr/>
        </p:nvSpPr>
        <p:spPr>
          <a:xfrm>
            <a:off x="79445" y="1541950"/>
            <a:ext cx="5312400" cy="1415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2"/>
          <p:cNvSpPr/>
          <p:nvPr/>
        </p:nvSpPr>
        <p:spPr>
          <a:xfrm>
            <a:off x="141705" y="1600400"/>
            <a:ext cx="5187000" cy="13038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{{investment_thesis_s1}}</a:t>
            </a:r>
            <a:endParaRPr sz="800">
              <a:solidFill>
                <a:schemeClr val="dk1"/>
              </a:solidFill>
              <a:latin typeface="Calibri"/>
              <a:ea typeface="Calibri"/>
              <a:cs typeface="Calibri"/>
              <a:sym typeface="Calibri"/>
            </a:endParaRPr>
          </a:p>
        </p:txBody>
      </p:sp>
      <p:sp>
        <p:nvSpPr>
          <p:cNvPr id="75" name="Google Shape;75;p12"/>
          <p:cNvSpPr/>
          <p:nvPr/>
        </p:nvSpPr>
        <p:spPr>
          <a:xfrm>
            <a:off x="79435" y="3037782"/>
            <a:ext cx="2633100" cy="901800"/>
          </a:xfrm>
          <a:prstGeom prst="rect">
            <a:avLst/>
          </a:prstGeom>
          <a:solidFill>
            <a:schemeClr val="lt1"/>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2"/>
          <p:cNvSpPr/>
          <p:nvPr/>
        </p:nvSpPr>
        <p:spPr>
          <a:xfrm>
            <a:off x="110321" y="3077858"/>
            <a:ext cx="2571900" cy="818400"/>
          </a:xfrm>
          <a:prstGeom prst="rect">
            <a:avLst/>
          </a:prstGeom>
          <a:noFill/>
          <a:ln cap="flat" cmpd="sng" w="28575">
            <a:solidFill>
              <a:schemeClr val="lt1"/>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{{investment_ideas_1}}</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80" name="Google Shape;80;p12"/>
          <p:cNvSpPr/>
          <p:nvPr/>
        </p:nvSpPr>
        <p:spPr>
          <a:xfrm>
            <a:off x="5477925" y="1541950"/>
            <a:ext cx="3594300" cy="3335100"/>
          </a:xfrm>
          <a:prstGeom prst="rect">
            <a:avLst/>
          </a:prstGeom>
          <a:solidFill>
            <a:srgbClr val="D1D5DB"/>
          </a:solidFill>
          <a:ln cap="flat" cmpd="sng" w="9525">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{{financial_summary_image}}</a:t>
            </a:r>
            <a:endParaRPr sz="800"/>
          </a:p>
        </p:txBody>
      </p:sp>
      <p:sp>
        <p:nvSpPr>
          <p:cNvPr id="81" name="Google Shape;81;p12"/>
          <p:cNvSpPr/>
          <p:nvPr/>
        </p:nvSpPr>
        <p:spPr>
          <a:xfrm>
            <a:off x="2768708" y="3040882"/>
            <a:ext cx="2633100" cy="901800"/>
          </a:xfrm>
          <a:prstGeom prst="rect">
            <a:avLst/>
          </a:prstGeom>
          <a:solidFill>
            <a:schemeClr val="lt1"/>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2"/>
          <p:cNvSpPr/>
          <p:nvPr/>
        </p:nvSpPr>
        <p:spPr>
          <a:xfrm>
            <a:off x="2799595" y="3080958"/>
            <a:ext cx="2571900" cy="818400"/>
          </a:xfrm>
          <a:prstGeom prst="rect">
            <a:avLst/>
          </a:prstGeom>
          <a:noFill/>
          <a:ln cap="flat" cmpd="sng" w="28575">
            <a:solidFill>
              <a:schemeClr val="lt1"/>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{{investment_ideas_2}}</a:t>
            </a:r>
            <a:endParaRPr sz="800">
              <a:solidFill>
                <a:schemeClr val="dk1"/>
              </a:solidFill>
              <a:latin typeface="Calibri"/>
              <a:ea typeface="Calibri"/>
              <a:cs typeface="Calibri"/>
              <a:sym typeface="Calibri"/>
            </a:endParaRPr>
          </a:p>
        </p:txBody>
      </p:sp>
      <p:sp>
        <p:nvSpPr>
          <p:cNvPr id="83" name="Google Shape;83;p12"/>
          <p:cNvSpPr/>
          <p:nvPr/>
        </p:nvSpPr>
        <p:spPr>
          <a:xfrm>
            <a:off x="77070" y="3996925"/>
            <a:ext cx="2633100" cy="901800"/>
          </a:xfrm>
          <a:prstGeom prst="rect">
            <a:avLst/>
          </a:prstGeom>
          <a:solidFill>
            <a:schemeClr val="lt1"/>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2"/>
          <p:cNvSpPr/>
          <p:nvPr/>
        </p:nvSpPr>
        <p:spPr>
          <a:xfrm>
            <a:off x="107712" y="4043126"/>
            <a:ext cx="2571900" cy="818400"/>
          </a:xfrm>
          <a:prstGeom prst="rect">
            <a:avLst/>
          </a:prstGeom>
          <a:noFill/>
          <a:ln cap="flat" cmpd="sng" w="28575">
            <a:solidFill>
              <a:schemeClr val="lt1"/>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{{investment_ideas_3}}</a:t>
            </a:r>
            <a:endParaRPr sz="800">
              <a:solidFill>
                <a:schemeClr val="dk1"/>
              </a:solidFill>
              <a:latin typeface="Calibri"/>
              <a:ea typeface="Calibri"/>
              <a:cs typeface="Calibri"/>
              <a:sym typeface="Calibri"/>
            </a:endParaRPr>
          </a:p>
        </p:txBody>
      </p:sp>
      <p:sp>
        <p:nvSpPr>
          <p:cNvPr id="85" name="Google Shape;85;p12"/>
          <p:cNvSpPr/>
          <p:nvPr/>
        </p:nvSpPr>
        <p:spPr>
          <a:xfrm>
            <a:off x="2766344" y="4000025"/>
            <a:ext cx="2633100" cy="901800"/>
          </a:xfrm>
          <a:prstGeom prst="rect">
            <a:avLst/>
          </a:prstGeom>
          <a:solidFill>
            <a:schemeClr val="lt1"/>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2"/>
          <p:cNvSpPr/>
          <p:nvPr/>
        </p:nvSpPr>
        <p:spPr>
          <a:xfrm>
            <a:off x="2801986" y="4040162"/>
            <a:ext cx="2571900" cy="818400"/>
          </a:xfrm>
          <a:prstGeom prst="rect">
            <a:avLst/>
          </a:prstGeom>
          <a:noFill/>
          <a:ln cap="flat" cmpd="sng" w="28575">
            <a:solidFill>
              <a:schemeClr val="lt1"/>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{{investment_ideas_4}}</a:t>
            </a:r>
            <a:endParaRPr sz="800">
              <a:solidFill>
                <a:schemeClr val="dk1"/>
              </a:solidFill>
              <a:latin typeface="Calibri"/>
              <a:ea typeface="Calibri"/>
              <a:cs typeface="Calibri"/>
              <a:sym typeface="Calibri"/>
            </a:endParaRPr>
          </a:p>
        </p:txBody>
      </p:sp>
      <p:sp>
        <p:nvSpPr>
          <p:cNvPr id="87" name="Google Shape;87;p12"/>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88" name="Google Shape;88;p12"/>
          <p:cNvSpPr/>
          <p:nvPr/>
        </p:nvSpPr>
        <p:spPr>
          <a:xfrm>
            <a:off x="335580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89" name="Google Shape;89;p12"/>
          <p:cNvSpPr/>
          <p:nvPr/>
        </p:nvSpPr>
        <p:spPr>
          <a:xfrm>
            <a:off x="343550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Upside</a:t>
            </a:r>
            <a:endParaRPr b="0" i="0" sz="800" u="none" cap="none" strike="noStrike">
              <a:solidFill>
                <a:srgbClr val="000000"/>
              </a:solidFill>
              <a:latin typeface="Calibri"/>
              <a:ea typeface="Calibri"/>
              <a:cs typeface="Calibri"/>
              <a:sym typeface="Calibri"/>
            </a:endParaRPr>
          </a:p>
        </p:txBody>
      </p:sp>
      <p:sp>
        <p:nvSpPr>
          <p:cNvPr id="90" name="Google Shape;90;p12"/>
          <p:cNvSpPr/>
          <p:nvPr/>
        </p:nvSpPr>
        <p:spPr>
          <a:xfrm>
            <a:off x="340940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{{upside}}</a:t>
            </a:r>
            <a:endParaRPr b="0" i="0" sz="1219" u="none" cap="none" strike="noStrike">
              <a:solidFill>
                <a:srgbClr val="000000"/>
              </a:solidFill>
              <a:latin typeface="Calibri"/>
              <a:ea typeface="Calibri"/>
              <a:cs typeface="Calibri"/>
              <a:sym typeface="Calibri"/>
            </a:endParaRPr>
          </a:p>
        </p:txBody>
      </p:sp>
      <p:sp>
        <p:nvSpPr>
          <p:cNvPr id="91" name="Google Shape;91;p12"/>
          <p:cNvSpPr/>
          <p:nvPr/>
        </p:nvSpPr>
        <p:spPr>
          <a:xfrm>
            <a:off x="8075075"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92" name="Google Shape;92;p12"/>
          <p:cNvSpPr/>
          <p:nvPr/>
        </p:nvSpPr>
        <p:spPr>
          <a:xfrm>
            <a:off x="81547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Rating</a:t>
            </a:r>
            <a:endParaRPr b="0" i="0" sz="800" u="none" cap="none" strike="noStrike">
              <a:solidFill>
                <a:srgbClr val="000000"/>
              </a:solidFill>
              <a:latin typeface="Calibri"/>
              <a:ea typeface="Calibri"/>
              <a:cs typeface="Calibri"/>
              <a:sym typeface="Calibri"/>
            </a:endParaRPr>
          </a:p>
        </p:txBody>
      </p:sp>
      <p:sp>
        <p:nvSpPr>
          <p:cNvPr id="93" name="Google Shape;93;p12"/>
          <p:cNvSpPr/>
          <p:nvPr/>
        </p:nvSpPr>
        <p:spPr>
          <a:xfrm>
            <a:off x="81286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{{rating}}</a:t>
            </a:r>
            <a:endParaRPr b="0" i="0" sz="1219"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99" name="Google Shape;99;p1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p1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01" name="Google Shape;101;p13"/>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{{financial_charts}}</a:t>
            </a:r>
            <a:endParaRPr sz="800"/>
          </a:p>
        </p:txBody>
      </p:sp>
      <p:sp>
        <p:nvSpPr>
          <p:cNvPr id="102" name="Google Shape;102;p1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04" name="Google Shape;104;p1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05" name="Google Shape;105;p13"/>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{{operational_charts}}</a:t>
            </a:r>
            <a:endParaRPr sz="800"/>
          </a:p>
        </p:txBody>
      </p:sp>
      <p:sp>
        <p:nvSpPr>
          <p:cNvPr id="111" name="Google Shape;111;p1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112" name="Google Shape;112;p1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 name="Google Shape;113;p1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14" name="Google Shape;114;p1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16" name="Google Shape;116;p1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17" name="Google Shape;117;p14"/>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p:nvPr/>
        </p:nvSpPr>
        <p:spPr>
          <a:xfrm>
            <a:off x="110450" y="634200"/>
            <a:ext cx="4320600" cy="42498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txBox="1"/>
          <p:nvPr/>
        </p:nvSpPr>
        <p:spPr>
          <a:xfrm>
            <a:off x="156419" y="750000"/>
            <a:ext cx="4280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24" name="Google Shape;124;p15"/>
          <p:cNvSpPr/>
          <p:nvPr/>
        </p:nvSpPr>
        <p:spPr>
          <a:xfrm>
            <a:off x="110450" y="622925"/>
            <a:ext cx="43206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25" name="Google Shape;125;p15"/>
          <p:cNvSpPr/>
          <p:nvPr/>
        </p:nvSpPr>
        <p:spPr>
          <a:xfrm>
            <a:off x="178000" y="1026900"/>
            <a:ext cx="4180500" cy="378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{{investment_thesis_s4}}</a:t>
            </a:r>
            <a:endParaRPr b="0" i="0" sz="800" u="none" cap="none" strike="noStrike">
              <a:solidFill>
                <a:srgbClr val="000000"/>
              </a:solidFill>
              <a:latin typeface="Calibri"/>
              <a:ea typeface="Calibri"/>
              <a:cs typeface="Calibri"/>
              <a:sym typeface="Calibri"/>
            </a:endParaRPr>
          </a:p>
        </p:txBody>
      </p:sp>
      <p:sp>
        <p:nvSpPr>
          <p:cNvPr id="126" name="Google Shape;126;p1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Investment Thesis</a:t>
            </a:r>
            <a:endParaRPr b="1" sz="1800">
              <a:solidFill>
                <a:schemeClr val="lt1"/>
              </a:solidFill>
              <a:latin typeface="Calibri"/>
              <a:ea typeface="Calibri"/>
              <a:cs typeface="Calibri"/>
              <a:sym typeface="Calibri"/>
            </a:endParaRPr>
          </a:p>
        </p:txBody>
      </p:sp>
      <p:sp>
        <p:nvSpPr>
          <p:cNvPr id="127" name="Google Shape;127;p1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 name="Google Shape;128;p1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29" name="Google Shape;129;p15"/>
          <p:cNvSpPr/>
          <p:nvPr/>
        </p:nvSpPr>
        <p:spPr>
          <a:xfrm>
            <a:off x="235541" y="655800"/>
            <a:ext cx="41229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{{investment_thesis_heading_s4}}</a:t>
            </a:r>
            <a:endParaRPr b="1" sz="1200">
              <a:solidFill>
                <a:srgbClr val="FFFFFF"/>
              </a:solidFill>
              <a:latin typeface="Calibri"/>
              <a:ea typeface="Calibri"/>
              <a:cs typeface="Calibri"/>
              <a:sym typeface="Calibri"/>
            </a:endParaRPr>
          </a:p>
        </p:txBody>
      </p:sp>
      <p:sp>
        <p:nvSpPr>
          <p:cNvPr id="130" name="Google Shape;130;p15"/>
          <p:cNvSpPr/>
          <p:nvPr/>
        </p:nvSpPr>
        <p:spPr>
          <a:xfrm>
            <a:off x="4573400" y="626025"/>
            <a:ext cx="44988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1" name="Google Shape;131;p15"/>
          <p:cNvSpPr/>
          <p:nvPr/>
        </p:nvSpPr>
        <p:spPr>
          <a:xfrm>
            <a:off x="4626125" y="970325"/>
            <a:ext cx="4388700" cy="5649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key_catalyst_1</a:t>
            </a:r>
            <a:r>
              <a:rPr lang="en-GB" sz="800">
                <a:solidFill>
                  <a:schemeClr val="dk1"/>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132" name="Google Shape;132;p15"/>
          <p:cNvSpPr/>
          <p:nvPr/>
        </p:nvSpPr>
        <p:spPr>
          <a:xfrm>
            <a:off x="4573200" y="624258"/>
            <a:ext cx="44988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4626125" y="671012"/>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a:t>
            </a:r>
            <a:r>
              <a:rPr b="1" lang="en-GB" sz="1200">
                <a:solidFill>
                  <a:srgbClr val="1F4690"/>
                </a:solidFill>
                <a:latin typeface="Calibri"/>
                <a:ea typeface="Calibri"/>
                <a:cs typeface="Calibri"/>
                <a:sym typeface="Calibri"/>
              </a:rPr>
              <a:t>key_catalyst_heading_1</a:t>
            </a:r>
            <a:r>
              <a:rPr b="1" lang="en-GB" sz="1200">
                <a:solidFill>
                  <a:srgbClr val="1F4690"/>
                </a:solidFill>
                <a:latin typeface="Calibri"/>
                <a:ea typeface="Calibri"/>
                <a:cs typeface="Calibri"/>
                <a:sym typeface="Calibri"/>
              </a:rPr>
              <a:t>}}</a:t>
            </a:r>
            <a:endParaRPr b="1" sz="1200">
              <a:solidFill>
                <a:srgbClr val="1F4690"/>
              </a:solidFill>
              <a:latin typeface="Calibri"/>
              <a:ea typeface="Calibri"/>
              <a:cs typeface="Calibri"/>
              <a:sym typeface="Calibri"/>
            </a:endParaRPr>
          </a:p>
        </p:txBody>
      </p:sp>
      <p:sp>
        <p:nvSpPr>
          <p:cNvPr id="134" name="Google Shape;134;p15"/>
          <p:cNvSpPr/>
          <p:nvPr/>
        </p:nvSpPr>
        <p:spPr>
          <a:xfrm>
            <a:off x="4573600" y="3683850"/>
            <a:ext cx="4498800" cy="1200300"/>
          </a:xfrm>
          <a:prstGeom prst="rect">
            <a:avLst/>
          </a:prstGeom>
          <a:solidFill>
            <a:srgbClr val="FFE5B4"/>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5" name="Google Shape;135;p15"/>
          <p:cNvSpPr/>
          <p:nvPr/>
        </p:nvSpPr>
        <p:spPr>
          <a:xfrm>
            <a:off x="4626325" y="3717913"/>
            <a:ext cx="4388700" cy="1096200"/>
          </a:xfrm>
          <a:prstGeom prst="rect">
            <a:avLst/>
          </a:prstGeom>
          <a:solidFill>
            <a:srgbClr val="FFE5B4"/>
          </a:solid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b="1"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saarthi_summary_s4</a:t>
            </a:r>
            <a:r>
              <a:rPr b="1" lang="en-GB" sz="800">
                <a:solidFill>
                  <a:schemeClr val="dk1"/>
                </a:solidFill>
                <a:latin typeface="Calibri"/>
                <a:ea typeface="Calibri"/>
                <a:cs typeface="Calibri"/>
                <a:sym typeface="Calibri"/>
              </a:rPr>
              <a:t>}}</a:t>
            </a:r>
            <a:endParaRPr b="1" sz="800">
              <a:solidFill>
                <a:schemeClr val="dk1"/>
              </a:solidFill>
              <a:latin typeface="Calibri"/>
              <a:ea typeface="Calibri"/>
              <a:cs typeface="Calibri"/>
              <a:sym typeface="Calibri"/>
            </a:endParaRPr>
          </a:p>
        </p:txBody>
      </p:sp>
      <p:sp>
        <p:nvSpPr>
          <p:cNvPr id="136" name="Google Shape;136;p15"/>
          <p:cNvSpPr/>
          <p:nvPr/>
        </p:nvSpPr>
        <p:spPr>
          <a:xfrm>
            <a:off x="4573700" y="1647963"/>
            <a:ext cx="44988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7" name="Google Shape;137;p15"/>
          <p:cNvSpPr/>
          <p:nvPr/>
        </p:nvSpPr>
        <p:spPr>
          <a:xfrm>
            <a:off x="4626425" y="1992263"/>
            <a:ext cx="4388700" cy="5649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{{key_catalyst_2}}</a:t>
            </a:r>
            <a:endParaRPr sz="800">
              <a:solidFill>
                <a:schemeClr val="dk1"/>
              </a:solidFill>
              <a:latin typeface="Calibri"/>
              <a:ea typeface="Calibri"/>
              <a:cs typeface="Calibri"/>
              <a:sym typeface="Calibri"/>
            </a:endParaRPr>
          </a:p>
        </p:txBody>
      </p:sp>
      <p:sp>
        <p:nvSpPr>
          <p:cNvPr id="138" name="Google Shape;138;p15"/>
          <p:cNvSpPr/>
          <p:nvPr/>
        </p:nvSpPr>
        <p:spPr>
          <a:xfrm>
            <a:off x="4573500" y="1646196"/>
            <a:ext cx="44988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4626425" y="169295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{{key_catalyst_heading_2}}</a:t>
            </a:r>
            <a:endParaRPr b="1" sz="1200">
              <a:solidFill>
                <a:srgbClr val="1F4690"/>
              </a:solidFill>
              <a:latin typeface="Calibri"/>
              <a:ea typeface="Calibri"/>
              <a:cs typeface="Calibri"/>
              <a:sym typeface="Calibri"/>
            </a:endParaRPr>
          </a:p>
        </p:txBody>
      </p:sp>
      <p:sp>
        <p:nvSpPr>
          <p:cNvPr id="140" name="Google Shape;140;p15"/>
          <p:cNvSpPr/>
          <p:nvPr/>
        </p:nvSpPr>
        <p:spPr>
          <a:xfrm>
            <a:off x="4573800" y="2649200"/>
            <a:ext cx="44988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41" name="Google Shape;141;p15"/>
          <p:cNvSpPr/>
          <p:nvPr/>
        </p:nvSpPr>
        <p:spPr>
          <a:xfrm>
            <a:off x="4626525" y="2993500"/>
            <a:ext cx="4388700" cy="5649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{{key_catalyst_3}}</a:t>
            </a:r>
            <a:endParaRPr sz="800">
              <a:solidFill>
                <a:schemeClr val="dk1"/>
              </a:solidFill>
              <a:latin typeface="Calibri"/>
              <a:ea typeface="Calibri"/>
              <a:cs typeface="Calibri"/>
              <a:sym typeface="Calibri"/>
            </a:endParaRPr>
          </a:p>
        </p:txBody>
      </p:sp>
      <p:sp>
        <p:nvSpPr>
          <p:cNvPr id="142" name="Google Shape;142;p15"/>
          <p:cNvSpPr/>
          <p:nvPr/>
        </p:nvSpPr>
        <p:spPr>
          <a:xfrm>
            <a:off x="4573600" y="2647433"/>
            <a:ext cx="44988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4626425" y="270145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{{key_catalyst_heading_3}}</a:t>
            </a:r>
            <a:endParaRPr b="1" sz="1200">
              <a:solidFill>
                <a:srgbClr val="1F4690"/>
              </a:solidFill>
              <a:latin typeface="Calibri"/>
              <a:ea typeface="Calibri"/>
              <a:cs typeface="Calibri"/>
              <a:sym typeface="Calibri"/>
            </a:endParaRPr>
          </a:p>
        </p:txBody>
      </p:sp>
      <p:sp>
        <p:nvSpPr>
          <p:cNvPr id="144" name="Google Shape;144;p1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46" name="Google Shape;146;p1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47" name="Google Shape;147;p15"/>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Industry Overview</a:t>
            </a:r>
            <a:endParaRPr b="1" sz="1800">
              <a:solidFill>
                <a:schemeClr val="lt1"/>
              </a:solidFill>
              <a:latin typeface="Calibri"/>
              <a:ea typeface="Calibri"/>
              <a:cs typeface="Calibri"/>
              <a:sym typeface="Calibri"/>
            </a:endParaRPr>
          </a:p>
        </p:txBody>
      </p:sp>
      <p:sp>
        <p:nvSpPr>
          <p:cNvPr id="153" name="Google Shape;153;p1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105975" y="679763"/>
            <a:ext cx="2884200" cy="31815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55" name="Google Shape;155;p16"/>
          <p:cNvSpPr/>
          <p:nvPr/>
        </p:nvSpPr>
        <p:spPr>
          <a:xfrm>
            <a:off x="139775" y="983725"/>
            <a:ext cx="2813700" cy="28350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{{industry_structure}}</a:t>
            </a:r>
            <a:endParaRPr sz="800">
              <a:solidFill>
                <a:schemeClr val="dk1"/>
              </a:solidFill>
              <a:latin typeface="Calibri"/>
              <a:ea typeface="Calibri"/>
              <a:cs typeface="Calibri"/>
              <a:sym typeface="Calibri"/>
            </a:endParaRPr>
          </a:p>
        </p:txBody>
      </p:sp>
      <p:sp>
        <p:nvSpPr>
          <p:cNvPr id="156" name="Google Shape;156;p16"/>
          <p:cNvSpPr/>
          <p:nvPr/>
        </p:nvSpPr>
        <p:spPr>
          <a:xfrm>
            <a:off x="105850" y="678000"/>
            <a:ext cx="28842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139774" y="724750"/>
            <a:ext cx="2813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Industry Structure</a:t>
            </a:r>
            <a:endParaRPr b="1" sz="1200">
              <a:solidFill>
                <a:srgbClr val="1F4690"/>
              </a:solidFill>
              <a:latin typeface="Calibri"/>
              <a:ea typeface="Calibri"/>
              <a:cs typeface="Calibri"/>
              <a:sym typeface="Calibri"/>
            </a:endParaRPr>
          </a:p>
        </p:txBody>
      </p:sp>
      <p:sp>
        <p:nvSpPr>
          <p:cNvPr id="158" name="Google Shape;158;p16"/>
          <p:cNvSpPr/>
          <p:nvPr/>
        </p:nvSpPr>
        <p:spPr>
          <a:xfrm>
            <a:off x="3129963" y="679750"/>
            <a:ext cx="2884200" cy="31815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59" name="Google Shape;159;p16"/>
          <p:cNvSpPr/>
          <p:nvPr/>
        </p:nvSpPr>
        <p:spPr>
          <a:xfrm>
            <a:off x="3163775" y="983675"/>
            <a:ext cx="2813700" cy="28350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{{key_industry_tailwinds}}</a:t>
            </a:r>
            <a:endParaRPr sz="800">
              <a:solidFill>
                <a:schemeClr val="dk1"/>
              </a:solidFill>
              <a:latin typeface="Calibri"/>
              <a:ea typeface="Calibri"/>
              <a:cs typeface="Calibri"/>
              <a:sym typeface="Calibri"/>
            </a:endParaRPr>
          </a:p>
        </p:txBody>
      </p:sp>
      <p:sp>
        <p:nvSpPr>
          <p:cNvPr id="160" name="Google Shape;160;p16"/>
          <p:cNvSpPr/>
          <p:nvPr/>
        </p:nvSpPr>
        <p:spPr>
          <a:xfrm>
            <a:off x="3129838" y="677988"/>
            <a:ext cx="28842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a:off x="3163777" y="724750"/>
            <a:ext cx="2789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Key Industry Tailwinds</a:t>
            </a:r>
            <a:endParaRPr b="1" sz="1200">
              <a:solidFill>
                <a:srgbClr val="1F4690"/>
              </a:solidFill>
              <a:latin typeface="Calibri"/>
              <a:ea typeface="Calibri"/>
              <a:cs typeface="Calibri"/>
              <a:sym typeface="Calibri"/>
            </a:endParaRPr>
          </a:p>
        </p:txBody>
      </p:sp>
      <p:sp>
        <p:nvSpPr>
          <p:cNvPr id="162" name="Google Shape;162;p16"/>
          <p:cNvSpPr/>
          <p:nvPr/>
        </p:nvSpPr>
        <p:spPr>
          <a:xfrm>
            <a:off x="6154100" y="679750"/>
            <a:ext cx="2884200" cy="31815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63" name="Google Shape;163;p16"/>
          <p:cNvSpPr/>
          <p:nvPr/>
        </p:nvSpPr>
        <p:spPr>
          <a:xfrm>
            <a:off x="6187900" y="983675"/>
            <a:ext cx="2813700" cy="28350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{{key_industry_risks}}</a:t>
            </a:r>
            <a:endParaRPr sz="800">
              <a:solidFill>
                <a:schemeClr val="dk1"/>
              </a:solidFill>
              <a:latin typeface="Calibri"/>
              <a:ea typeface="Calibri"/>
              <a:cs typeface="Calibri"/>
              <a:sym typeface="Calibri"/>
            </a:endParaRPr>
          </a:p>
        </p:txBody>
      </p:sp>
      <p:sp>
        <p:nvSpPr>
          <p:cNvPr id="164" name="Google Shape;164;p16"/>
          <p:cNvSpPr/>
          <p:nvPr/>
        </p:nvSpPr>
        <p:spPr>
          <a:xfrm>
            <a:off x="6153975" y="677988"/>
            <a:ext cx="28842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6187899" y="724750"/>
            <a:ext cx="2813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rgbClr val="1F4690"/>
                </a:solidFill>
                <a:latin typeface="Calibri"/>
                <a:ea typeface="Calibri"/>
                <a:cs typeface="Calibri"/>
                <a:sym typeface="Calibri"/>
              </a:rPr>
              <a:t>Key Industry Risks</a:t>
            </a:r>
            <a:endParaRPr b="1" sz="1200">
              <a:solidFill>
                <a:srgbClr val="1F4690"/>
              </a:solidFill>
              <a:latin typeface="Calibri"/>
              <a:ea typeface="Calibri"/>
              <a:cs typeface="Calibri"/>
              <a:sym typeface="Calibri"/>
            </a:endParaRPr>
          </a:p>
        </p:txBody>
      </p:sp>
      <p:pic>
        <p:nvPicPr>
          <p:cNvPr id="166" name="Google Shape;166;p1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67" name="Google Shape;167;p16"/>
          <p:cNvSpPr/>
          <p:nvPr/>
        </p:nvSpPr>
        <p:spPr>
          <a:xfrm>
            <a:off x="105863" y="3990937"/>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68" name="Google Shape;168;p16"/>
          <p:cNvSpPr/>
          <p:nvPr/>
        </p:nvSpPr>
        <p:spPr>
          <a:xfrm>
            <a:off x="219769" y="405274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{{KPI_heading_1}}</a:t>
            </a:r>
            <a:endParaRPr b="0" i="0" sz="843" u="none" cap="none" strike="noStrike">
              <a:solidFill>
                <a:srgbClr val="000000"/>
              </a:solidFill>
              <a:latin typeface="Calibri"/>
              <a:ea typeface="Calibri"/>
              <a:cs typeface="Calibri"/>
              <a:sym typeface="Calibri"/>
            </a:endParaRPr>
          </a:p>
        </p:txBody>
      </p:sp>
      <p:sp>
        <p:nvSpPr>
          <p:cNvPr id="169" name="Google Shape;169;p16"/>
          <p:cNvSpPr/>
          <p:nvPr/>
        </p:nvSpPr>
        <p:spPr>
          <a:xfrm>
            <a:off x="182468" y="424357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{{KPI_1}}</a:t>
            </a:r>
            <a:endParaRPr b="0" i="0" sz="1542" u="none" cap="none" strike="noStrike">
              <a:solidFill>
                <a:srgbClr val="000000"/>
              </a:solidFill>
              <a:latin typeface="Calibri"/>
              <a:ea typeface="Calibri"/>
              <a:cs typeface="Calibri"/>
              <a:sym typeface="Calibri"/>
            </a:endParaRPr>
          </a:p>
        </p:txBody>
      </p:sp>
      <p:sp>
        <p:nvSpPr>
          <p:cNvPr id="170" name="Google Shape;170;p16"/>
          <p:cNvSpPr/>
          <p:nvPr/>
        </p:nvSpPr>
        <p:spPr>
          <a:xfrm>
            <a:off x="1605069" y="3990937"/>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1" name="Google Shape;171;p16"/>
          <p:cNvSpPr/>
          <p:nvPr/>
        </p:nvSpPr>
        <p:spPr>
          <a:xfrm>
            <a:off x="1718975" y="405274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{{KPI_heading_2}}</a:t>
            </a:r>
            <a:endParaRPr b="0" i="0" sz="843" u="none" cap="none" strike="noStrike">
              <a:solidFill>
                <a:srgbClr val="000000"/>
              </a:solidFill>
              <a:latin typeface="Calibri"/>
              <a:ea typeface="Calibri"/>
              <a:cs typeface="Calibri"/>
              <a:sym typeface="Calibri"/>
            </a:endParaRPr>
          </a:p>
        </p:txBody>
      </p:sp>
      <p:sp>
        <p:nvSpPr>
          <p:cNvPr id="172" name="Google Shape;172;p16"/>
          <p:cNvSpPr/>
          <p:nvPr/>
        </p:nvSpPr>
        <p:spPr>
          <a:xfrm>
            <a:off x="1681674" y="424357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{{KPI_2}}</a:t>
            </a:r>
            <a:endParaRPr b="0" i="0" sz="1542" u="none" cap="none" strike="noStrike">
              <a:solidFill>
                <a:srgbClr val="000000"/>
              </a:solidFill>
              <a:latin typeface="Calibri"/>
              <a:ea typeface="Calibri"/>
              <a:cs typeface="Calibri"/>
              <a:sym typeface="Calibri"/>
            </a:endParaRPr>
          </a:p>
        </p:txBody>
      </p:sp>
      <p:sp>
        <p:nvSpPr>
          <p:cNvPr id="173" name="Google Shape;173;p16"/>
          <p:cNvSpPr/>
          <p:nvPr/>
        </p:nvSpPr>
        <p:spPr>
          <a:xfrm>
            <a:off x="3104275" y="3990888"/>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4" name="Google Shape;174;p16"/>
          <p:cNvSpPr/>
          <p:nvPr/>
        </p:nvSpPr>
        <p:spPr>
          <a:xfrm>
            <a:off x="3218182"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{{KPI_heading_3}}</a:t>
            </a:r>
            <a:endParaRPr b="0" i="0" sz="843" u="none" cap="none" strike="noStrike">
              <a:solidFill>
                <a:srgbClr val="000000"/>
              </a:solidFill>
              <a:latin typeface="Calibri"/>
              <a:ea typeface="Calibri"/>
              <a:cs typeface="Calibri"/>
              <a:sym typeface="Calibri"/>
            </a:endParaRPr>
          </a:p>
        </p:txBody>
      </p:sp>
      <p:sp>
        <p:nvSpPr>
          <p:cNvPr id="175" name="Google Shape;175;p16"/>
          <p:cNvSpPr/>
          <p:nvPr/>
        </p:nvSpPr>
        <p:spPr>
          <a:xfrm>
            <a:off x="3180881"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{{KPI_3}}</a:t>
            </a:r>
            <a:endParaRPr b="0" i="0" sz="1542" u="none" cap="none" strike="noStrike">
              <a:solidFill>
                <a:srgbClr val="000000"/>
              </a:solidFill>
              <a:latin typeface="Calibri"/>
              <a:ea typeface="Calibri"/>
              <a:cs typeface="Calibri"/>
              <a:sym typeface="Calibri"/>
            </a:endParaRPr>
          </a:p>
        </p:txBody>
      </p:sp>
      <p:sp>
        <p:nvSpPr>
          <p:cNvPr id="176" name="Google Shape;176;p16"/>
          <p:cNvSpPr/>
          <p:nvPr/>
        </p:nvSpPr>
        <p:spPr>
          <a:xfrm>
            <a:off x="4603482" y="3990888"/>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7" name="Google Shape;177;p16"/>
          <p:cNvSpPr/>
          <p:nvPr/>
        </p:nvSpPr>
        <p:spPr>
          <a:xfrm>
            <a:off x="4717388"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{{KPI_heading_4}}</a:t>
            </a:r>
            <a:endParaRPr b="0" i="0" sz="843" u="none" cap="none" strike="noStrike">
              <a:solidFill>
                <a:srgbClr val="000000"/>
              </a:solidFill>
              <a:latin typeface="Calibri"/>
              <a:ea typeface="Calibri"/>
              <a:cs typeface="Calibri"/>
              <a:sym typeface="Calibri"/>
            </a:endParaRPr>
          </a:p>
        </p:txBody>
      </p:sp>
      <p:sp>
        <p:nvSpPr>
          <p:cNvPr id="178" name="Google Shape;178;p16"/>
          <p:cNvSpPr/>
          <p:nvPr/>
        </p:nvSpPr>
        <p:spPr>
          <a:xfrm>
            <a:off x="4680087"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{{KPI_4}}</a:t>
            </a:r>
            <a:endParaRPr b="0" i="0" sz="1542" u="none" cap="none" strike="noStrike">
              <a:solidFill>
                <a:srgbClr val="000000"/>
              </a:solidFill>
              <a:latin typeface="Calibri"/>
              <a:ea typeface="Calibri"/>
              <a:cs typeface="Calibri"/>
              <a:sym typeface="Calibri"/>
            </a:endParaRPr>
          </a:p>
        </p:txBody>
      </p:sp>
      <p:sp>
        <p:nvSpPr>
          <p:cNvPr id="179" name="Google Shape;179;p16"/>
          <p:cNvSpPr/>
          <p:nvPr/>
        </p:nvSpPr>
        <p:spPr>
          <a:xfrm>
            <a:off x="6102688" y="3990888"/>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80" name="Google Shape;180;p16"/>
          <p:cNvSpPr/>
          <p:nvPr/>
        </p:nvSpPr>
        <p:spPr>
          <a:xfrm>
            <a:off x="6216594"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{{KPI_heading_5}}</a:t>
            </a:r>
            <a:endParaRPr b="0" i="0" sz="843" u="none" cap="none" strike="noStrike">
              <a:solidFill>
                <a:srgbClr val="000000"/>
              </a:solidFill>
              <a:latin typeface="Calibri"/>
              <a:ea typeface="Calibri"/>
              <a:cs typeface="Calibri"/>
              <a:sym typeface="Calibri"/>
            </a:endParaRPr>
          </a:p>
        </p:txBody>
      </p:sp>
      <p:sp>
        <p:nvSpPr>
          <p:cNvPr id="181" name="Google Shape;181;p16"/>
          <p:cNvSpPr/>
          <p:nvPr/>
        </p:nvSpPr>
        <p:spPr>
          <a:xfrm>
            <a:off x="6179293"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{{KPI_5}}</a:t>
            </a:r>
            <a:endParaRPr b="0" i="0" sz="1542" u="none" cap="none" strike="noStrike">
              <a:solidFill>
                <a:srgbClr val="000000"/>
              </a:solidFill>
              <a:latin typeface="Calibri"/>
              <a:ea typeface="Calibri"/>
              <a:cs typeface="Calibri"/>
              <a:sym typeface="Calibri"/>
            </a:endParaRPr>
          </a:p>
        </p:txBody>
      </p:sp>
      <p:sp>
        <p:nvSpPr>
          <p:cNvPr id="182" name="Google Shape;182;p16"/>
          <p:cNvSpPr/>
          <p:nvPr/>
        </p:nvSpPr>
        <p:spPr>
          <a:xfrm>
            <a:off x="7601895" y="3990888"/>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83" name="Google Shape;183;p16"/>
          <p:cNvSpPr/>
          <p:nvPr/>
        </p:nvSpPr>
        <p:spPr>
          <a:xfrm>
            <a:off x="7715801"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{{KPI_heading_6}}</a:t>
            </a:r>
            <a:endParaRPr b="0" i="0" sz="843" u="none" cap="none" strike="noStrike">
              <a:solidFill>
                <a:srgbClr val="000000"/>
              </a:solidFill>
              <a:latin typeface="Calibri"/>
              <a:ea typeface="Calibri"/>
              <a:cs typeface="Calibri"/>
              <a:sym typeface="Calibri"/>
            </a:endParaRPr>
          </a:p>
        </p:txBody>
      </p:sp>
      <p:sp>
        <p:nvSpPr>
          <p:cNvPr id="184" name="Google Shape;184;p16"/>
          <p:cNvSpPr/>
          <p:nvPr/>
        </p:nvSpPr>
        <p:spPr>
          <a:xfrm>
            <a:off x="7678500"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{{KPI_6}}</a:t>
            </a:r>
            <a:endParaRPr b="0" i="0" sz="1542" u="none" cap="none" strike="noStrike">
              <a:solidFill>
                <a:srgbClr val="000000"/>
              </a:solidFill>
              <a:latin typeface="Calibri"/>
              <a:ea typeface="Calibri"/>
              <a:cs typeface="Calibri"/>
              <a:sym typeface="Calibri"/>
            </a:endParaRPr>
          </a:p>
        </p:txBody>
      </p:sp>
      <p:sp>
        <p:nvSpPr>
          <p:cNvPr id="185" name="Google Shape;185;p1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87" name="Google Shape;187;p1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88" name="Google Shape;188;p16"/>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0" y="0"/>
            <a:ext cx="9144000" cy="344700"/>
          </a:xfrm>
          <a:prstGeom prst="rect">
            <a:avLst/>
          </a:prstGeom>
          <a:solidFill>
            <a:srgbClr val="1F469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lang="en-GB" sz="1500"/>
              <a:t> COMPANY </a:t>
            </a:r>
            <a:r>
              <a:rPr lang="en-GB" sz="1500"/>
              <a:t>OVERVIEW</a:t>
            </a:r>
            <a:endParaRPr sz="1500"/>
          </a:p>
        </p:txBody>
      </p:sp>
      <p:sp>
        <p:nvSpPr>
          <p:cNvPr id="194" name="Google Shape;194;p17"/>
          <p:cNvSpPr/>
          <p:nvPr/>
        </p:nvSpPr>
        <p:spPr>
          <a:xfrm>
            <a:off x="0" y="299088"/>
            <a:ext cx="9144000" cy="456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110450" y="2895086"/>
            <a:ext cx="1934100" cy="1839900"/>
          </a:xfrm>
          <a:prstGeom prst="ellipse">
            <a:avLst/>
          </a:prstGeom>
          <a:solidFill>
            <a:srgbClr val="D1D5DB"/>
          </a:solidFill>
          <a:ln cap="flat" cmpd="sng" w="9900">
            <a:solidFill>
              <a:srgbClr val="000000"/>
            </a:solidFill>
            <a:prstDash val="solid"/>
            <a:round/>
            <a:headEnd len="sm" w="sm" type="none"/>
            <a:tailEnd len="sm" w="sm" type="none"/>
          </a:ln>
        </p:spPr>
        <p:txBody>
          <a:bodyPr anchorCtr="0" anchor="ctr" bIns="47500" lIns="95000" spcFirstLastPara="1" rIns="95000" wrap="square" tIns="47500">
            <a:noAutofit/>
          </a:bodyPr>
          <a:lstStyle/>
          <a:p>
            <a:pPr indent="0" lvl="0" marL="0" rtl="0" algn="ctr">
              <a:spcBef>
                <a:spcPts val="0"/>
              </a:spcBef>
              <a:spcAft>
                <a:spcPts val="0"/>
              </a:spcAft>
              <a:buNone/>
            </a:pPr>
            <a:r>
              <a:rPr lang="en-GB" sz="800"/>
              <a:t>{{</a:t>
            </a:r>
            <a:r>
              <a:rPr lang="en-GB" sz="800"/>
              <a:t>percentage_revenue_pie_chart</a:t>
            </a:r>
            <a:r>
              <a:rPr lang="en-GB" sz="800"/>
              <a:t>}}</a:t>
            </a:r>
            <a:endParaRPr sz="800"/>
          </a:p>
        </p:txBody>
      </p:sp>
      <p:sp>
        <p:nvSpPr>
          <p:cNvPr id="196" name="Google Shape;196;p17"/>
          <p:cNvSpPr/>
          <p:nvPr/>
        </p:nvSpPr>
        <p:spPr>
          <a:xfrm rot="522">
            <a:off x="2336610" y="2874713"/>
            <a:ext cx="1977600" cy="1895400"/>
          </a:xfrm>
          <a:prstGeom prst="ellipse">
            <a:avLst/>
          </a:prstGeom>
          <a:solidFill>
            <a:srgbClr val="D1D5DB"/>
          </a:solidFill>
          <a:ln cap="flat" cmpd="sng" w="9900">
            <a:solidFill>
              <a:srgbClr val="000000"/>
            </a:solidFill>
            <a:prstDash val="solid"/>
            <a:round/>
            <a:headEnd len="sm" w="sm" type="none"/>
            <a:tailEnd len="sm" w="sm" type="none"/>
          </a:ln>
        </p:spPr>
        <p:txBody>
          <a:bodyPr anchorCtr="0" anchor="ctr" bIns="47500" lIns="95000" spcFirstLastPara="1" rIns="95000" wrap="square" tIns="47500">
            <a:noAutofit/>
          </a:bodyPr>
          <a:lstStyle/>
          <a:p>
            <a:pPr indent="0" lvl="0" marL="0" rtl="0" algn="ctr">
              <a:spcBef>
                <a:spcPts val="0"/>
              </a:spcBef>
              <a:spcAft>
                <a:spcPts val="0"/>
              </a:spcAft>
              <a:buNone/>
            </a:pPr>
            <a:r>
              <a:rPr lang="en-GB" sz="800"/>
              <a:t>{{percentage_EBIT_pie_chart}}</a:t>
            </a:r>
            <a:endParaRPr sz="800"/>
          </a:p>
        </p:txBody>
      </p:sp>
      <p:sp>
        <p:nvSpPr>
          <p:cNvPr id="197" name="Google Shape;197;p1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Company Overview</a:t>
            </a:r>
            <a:endParaRPr b="1" sz="1800">
              <a:solidFill>
                <a:schemeClr val="lt1"/>
              </a:solidFill>
              <a:latin typeface="Calibri"/>
              <a:ea typeface="Calibri"/>
              <a:cs typeface="Calibri"/>
              <a:sym typeface="Calibri"/>
            </a:endParaRPr>
          </a:p>
        </p:txBody>
      </p:sp>
      <p:sp>
        <p:nvSpPr>
          <p:cNvPr id="198" name="Google Shape;198;p1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 name="Google Shape;199;p1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00" name="Google Shape;200;p17"/>
          <p:cNvSpPr/>
          <p:nvPr/>
        </p:nvSpPr>
        <p:spPr>
          <a:xfrm>
            <a:off x="110450" y="634200"/>
            <a:ext cx="51261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a:off x="148175" y="676575"/>
            <a:ext cx="5043900" cy="1969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{{company_overview}}</a:t>
            </a:r>
            <a:endParaRPr b="0" i="0" sz="800" u="none" cap="none" strike="noStrike">
              <a:solidFill>
                <a:srgbClr val="000000"/>
              </a:solidFill>
              <a:latin typeface="Calibri"/>
              <a:ea typeface="Calibri"/>
              <a:cs typeface="Calibri"/>
              <a:sym typeface="Calibri"/>
            </a:endParaRPr>
          </a:p>
        </p:txBody>
      </p:sp>
      <p:sp>
        <p:nvSpPr>
          <p:cNvPr id="202" name="Google Shape;202;p17"/>
          <p:cNvSpPr txBox="1"/>
          <p:nvPr/>
        </p:nvSpPr>
        <p:spPr>
          <a:xfrm>
            <a:off x="5357347" y="993382"/>
            <a:ext cx="3714900" cy="276900"/>
          </a:xfrm>
          <a:prstGeom prst="rect">
            <a:avLst/>
          </a:prstGeom>
          <a:noFill/>
          <a:ln cap="flat" cmpd="sng" w="9525">
            <a:solidFill>
              <a:srgbClr val="FFA5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03" name="Google Shape;203;p17"/>
          <p:cNvSpPr/>
          <p:nvPr/>
        </p:nvSpPr>
        <p:spPr>
          <a:xfrm>
            <a:off x="5317450" y="638725"/>
            <a:ext cx="3750000" cy="969900"/>
          </a:xfrm>
          <a:prstGeom prst="rect">
            <a:avLst/>
          </a:prstGeom>
          <a:solidFill>
            <a:srgbClr val="1F469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4" name="Google Shape;204;p17"/>
          <p:cNvSpPr/>
          <p:nvPr/>
        </p:nvSpPr>
        <p:spPr>
          <a:xfrm>
            <a:off x="5357350" y="676573"/>
            <a:ext cx="3674400" cy="885900"/>
          </a:xfrm>
          <a:prstGeom prst="rect">
            <a:avLst/>
          </a:prstGeom>
          <a:noFill/>
          <a:ln cap="flat" cmpd="sng" w="9525">
            <a:solidFill>
              <a:srgbClr val="1F469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a:t>
            </a:r>
            <a:r>
              <a:rPr lang="en-GB" sz="800">
                <a:solidFill>
                  <a:srgbClr val="FFFFFF"/>
                </a:solidFill>
                <a:latin typeface="Calibri"/>
                <a:ea typeface="Calibri"/>
                <a:cs typeface="Calibri"/>
                <a:sym typeface="Calibri"/>
              </a:rPr>
              <a:t>competitive_moat_1</a:t>
            </a:r>
            <a:r>
              <a:rPr lang="en-GB" sz="800">
                <a:solidFill>
                  <a:srgbClr val="FFFFFF"/>
                </a:solidFill>
                <a:latin typeface="Calibri"/>
                <a:ea typeface="Calibri"/>
                <a:cs typeface="Calibri"/>
                <a:sym typeface="Calibri"/>
              </a:rPr>
              <a:t>}}</a:t>
            </a:r>
            <a:endParaRPr sz="800">
              <a:solidFill>
                <a:srgbClr val="FFFFFF"/>
              </a:solidFill>
              <a:latin typeface="Calibri"/>
              <a:ea typeface="Calibri"/>
              <a:cs typeface="Calibri"/>
              <a:sym typeface="Calibri"/>
            </a:endParaRPr>
          </a:p>
        </p:txBody>
      </p:sp>
      <p:sp>
        <p:nvSpPr>
          <p:cNvPr id="205" name="Google Shape;205;p17"/>
          <p:cNvSpPr txBox="1"/>
          <p:nvPr/>
        </p:nvSpPr>
        <p:spPr>
          <a:xfrm>
            <a:off x="5354947" y="2085607"/>
            <a:ext cx="3714900" cy="276900"/>
          </a:xfrm>
          <a:prstGeom prst="rect">
            <a:avLst/>
          </a:prstGeom>
          <a:noFill/>
          <a:ln cap="flat" cmpd="sng" w="9525">
            <a:solidFill>
              <a:srgbClr val="FFA5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06" name="Google Shape;206;p17"/>
          <p:cNvSpPr/>
          <p:nvPr/>
        </p:nvSpPr>
        <p:spPr>
          <a:xfrm>
            <a:off x="5315050" y="1730950"/>
            <a:ext cx="3750000" cy="969900"/>
          </a:xfrm>
          <a:prstGeom prst="rect">
            <a:avLst/>
          </a:prstGeom>
          <a:solidFill>
            <a:srgbClr val="1F469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7" name="Google Shape;207;p17"/>
          <p:cNvSpPr/>
          <p:nvPr/>
        </p:nvSpPr>
        <p:spPr>
          <a:xfrm>
            <a:off x="5354950" y="1769020"/>
            <a:ext cx="3674400" cy="885900"/>
          </a:xfrm>
          <a:prstGeom prst="rect">
            <a:avLst/>
          </a:prstGeom>
          <a:noFill/>
          <a:ln cap="flat" cmpd="sng" w="9525">
            <a:solidFill>
              <a:srgbClr val="1F469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{{competitive_moat_2}}</a:t>
            </a:r>
            <a:endParaRPr sz="800">
              <a:solidFill>
                <a:srgbClr val="FFFFFF"/>
              </a:solidFill>
              <a:latin typeface="Calibri"/>
              <a:ea typeface="Calibri"/>
              <a:cs typeface="Calibri"/>
              <a:sym typeface="Calibri"/>
            </a:endParaRPr>
          </a:p>
        </p:txBody>
      </p:sp>
      <p:sp>
        <p:nvSpPr>
          <p:cNvPr id="208" name="Google Shape;208;p17"/>
          <p:cNvSpPr/>
          <p:nvPr/>
        </p:nvSpPr>
        <p:spPr>
          <a:xfrm>
            <a:off x="4573600" y="2818950"/>
            <a:ext cx="4498800" cy="2065200"/>
          </a:xfrm>
          <a:prstGeom prst="rect">
            <a:avLst/>
          </a:prstGeom>
          <a:solidFill>
            <a:schemeClr val="lt1"/>
          </a:solidFill>
          <a:ln cap="flat" cmpd="sng" w="2857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09" name="Google Shape;209;p17"/>
          <p:cNvSpPr/>
          <p:nvPr/>
        </p:nvSpPr>
        <p:spPr>
          <a:xfrm>
            <a:off x="4606250" y="2852300"/>
            <a:ext cx="4420800" cy="1989600"/>
          </a:xfrm>
          <a:prstGeom prst="rect">
            <a:avLst/>
          </a:prstGeom>
          <a:solidFill>
            <a:schemeClr val="lt1"/>
          </a:solid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b="1"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key_insights</a:t>
            </a:r>
            <a:r>
              <a:rPr b="1" lang="en-GB" sz="800">
                <a:solidFill>
                  <a:schemeClr val="dk1"/>
                </a:solidFill>
                <a:latin typeface="Calibri"/>
                <a:ea typeface="Calibri"/>
                <a:cs typeface="Calibri"/>
                <a:sym typeface="Calibri"/>
              </a:rPr>
              <a:t>}}</a:t>
            </a:r>
            <a:endParaRPr b="1" sz="800">
              <a:solidFill>
                <a:schemeClr val="dk1"/>
              </a:solidFill>
              <a:latin typeface="Calibri"/>
              <a:ea typeface="Calibri"/>
              <a:cs typeface="Calibri"/>
              <a:sym typeface="Calibri"/>
            </a:endParaRPr>
          </a:p>
        </p:txBody>
      </p:sp>
      <p:sp>
        <p:nvSpPr>
          <p:cNvPr id="210" name="Google Shape;210;p1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12" name="Google Shape;212;p1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13" name="Google Shape;213;p17"/>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1800"/>
              <a:t>Company Timeline</a:t>
            </a:r>
            <a:endParaRPr sz="1800"/>
          </a:p>
        </p:txBody>
      </p:sp>
      <p:sp>
        <p:nvSpPr>
          <p:cNvPr id="219" name="Google Shape;219;p1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8"/>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22" name="Google Shape;222;p1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7</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23" name="Google Shape;223;p18"/>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24" name="Google Shape;224;p18"/>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{{company_timeline}}</a:t>
            </a:r>
            <a:endParaRPr sz="800"/>
          </a:p>
        </p:txBody>
      </p:sp>
      <p:pic>
        <p:nvPicPr>
          <p:cNvPr id="225" name="Google Shape;225;p1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sz="1800"/>
              <a:t>Business Model</a:t>
            </a:r>
            <a:endParaRPr sz="1800"/>
          </a:p>
        </p:txBody>
      </p:sp>
      <p:sp>
        <p:nvSpPr>
          <p:cNvPr id="231" name="Google Shape;231;p1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 name="Google Shape;232;p1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33" name="Google Shape;233;p1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35" name="Google Shape;235;p1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8</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36" name="Google Shape;236;p19"/>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37" name="Google Shape;237;p19"/>
          <p:cNvSpPr/>
          <p:nvPr/>
        </p:nvSpPr>
        <p:spPr>
          <a:xfrm>
            <a:off x="110450" y="634200"/>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a:off x="149213" y="67330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{{business_model_1}}</a:t>
            </a:r>
            <a:endParaRPr b="0" i="0" sz="800" u="none" cap="none" strike="noStrike">
              <a:solidFill>
                <a:srgbClr val="000000"/>
              </a:solidFill>
              <a:latin typeface="Calibri"/>
              <a:ea typeface="Calibri"/>
              <a:cs typeface="Calibri"/>
              <a:sym typeface="Calibri"/>
            </a:endParaRPr>
          </a:p>
        </p:txBody>
      </p:sp>
      <p:sp>
        <p:nvSpPr>
          <p:cNvPr id="239" name="Google Shape;239;p19"/>
          <p:cNvSpPr/>
          <p:nvPr/>
        </p:nvSpPr>
        <p:spPr>
          <a:xfrm>
            <a:off x="110450" y="2795131"/>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9"/>
          <p:cNvSpPr/>
          <p:nvPr/>
        </p:nvSpPr>
        <p:spPr>
          <a:xfrm>
            <a:off x="3122251" y="636763"/>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3122251" y="2797694"/>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6134052" y="636750"/>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6134052" y="2797681"/>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3173875" y="67540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{{business_model_2}}</a:t>
            </a:r>
            <a:endParaRPr b="0" i="0" sz="800" u="none" cap="none" strike="noStrike">
              <a:solidFill>
                <a:srgbClr val="000000"/>
              </a:solidFill>
              <a:latin typeface="Calibri"/>
              <a:ea typeface="Calibri"/>
              <a:cs typeface="Calibri"/>
              <a:sym typeface="Calibri"/>
            </a:endParaRPr>
          </a:p>
        </p:txBody>
      </p:sp>
      <p:sp>
        <p:nvSpPr>
          <p:cNvPr id="245" name="Google Shape;245;p19"/>
          <p:cNvSpPr/>
          <p:nvPr/>
        </p:nvSpPr>
        <p:spPr>
          <a:xfrm>
            <a:off x="6175063" y="680938"/>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{{business_model_3}}</a:t>
            </a:r>
            <a:endParaRPr b="0" i="0" sz="800" u="none" cap="none" strike="noStrike">
              <a:solidFill>
                <a:srgbClr val="000000"/>
              </a:solidFill>
              <a:latin typeface="Calibri"/>
              <a:ea typeface="Calibri"/>
              <a:cs typeface="Calibri"/>
              <a:sym typeface="Calibri"/>
            </a:endParaRPr>
          </a:p>
        </p:txBody>
      </p:sp>
      <p:sp>
        <p:nvSpPr>
          <p:cNvPr id="246" name="Google Shape;246;p19"/>
          <p:cNvSpPr/>
          <p:nvPr/>
        </p:nvSpPr>
        <p:spPr>
          <a:xfrm>
            <a:off x="149213" y="2832475"/>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{{business_model_4}}</a:t>
            </a:r>
            <a:endParaRPr b="0" i="0" sz="800" u="none" cap="none" strike="noStrike">
              <a:solidFill>
                <a:srgbClr val="000000"/>
              </a:solidFill>
              <a:latin typeface="Calibri"/>
              <a:ea typeface="Calibri"/>
              <a:cs typeface="Calibri"/>
              <a:sym typeface="Calibri"/>
            </a:endParaRPr>
          </a:p>
        </p:txBody>
      </p:sp>
      <p:sp>
        <p:nvSpPr>
          <p:cNvPr id="247" name="Google Shape;247;p19"/>
          <p:cNvSpPr/>
          <p:nvPr/>
        </p:nvSpPr>
        <p:spPr>
          <a:xfrm>
            <a:off x="3162138" y="2833763"/>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{{business_model_5}}</a:t>
            </a:r>
            <a:endParaRPr b="0" i="0" sz="800" u="none" cap="none" strike="noStrike">
              <a:solidFill>
                <a:srgbClr val="000000"/>
              </a:solidFill>
              <a:latin typeface="Calibri"/>
              <a:ea typeface="Calibri"/>
              <a:cs typeface="Calibri"/>
              <a:sym typeface="Calibri"/>
            </a:endParaRPr>
          </a:p>
        </p:txBody>
      </p:sp>
      <p:sp>
        <p:nvSpPr>
          <p:cNvPr id="248" name="Google Shape;248;p19"/>
          <p:cNvSpPr/>
          <p:nvPr/>
        </p:nvSpPr>
        <p:spPr>
          <a:xfrm>
            <a:off x="6175063" y="283375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{{business_model_6}}</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1800"/>
              <a:t>Competitive Advantage</a:t>
            </a:r>
            <a:endParaRPr sz="1800"/>
          </a:p>
        </p:txBody>
      </p:sp>
      <p:sp>
        <p:nvSpPr>
          <p:cNvPr id="254" name="Google Shape;254;p20"/>
          <p:cNvSpPr/>
          <p:nvPr/>
        </p:nvSpPr>
        <p:spPr>
          <a:xfrm>
            <a:off x="234875" y="3987450"/>
            <a:ext cx="4007400" cy="905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55" name="Google Shape;255;p2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 name="Google Shape;256;p2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7" name="Google Shape;257;p20"/>
          <p:cNvSpPr txBox="1"/>
          <p:nvPr/>
        </p:nvSpPr>
        <p:spPr>
          <a:xfrm>
            <a:off x="128588" y="2215044"/>
            <a:ext cx="405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58" name="Google Shape;258;p20"/>
          <p:cNvSpPr/>
          <p:nvPr/>
        </p:nvSpPr>
        <p:spPr>
          <a:xfrm>
            <a:off x="85050" y="638725"/>
            <a:ext cx="4092300" cy="4207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59" name="Google Shape;259;p20"/>
          <p:cNvSpPr/>
          <p:nvPr/>
        </p:nvSpPr>
        <p:spPr>
          <a:xfrm>
            <a:off x="128600" y="1026900"/>
            <a:ext cx="4009800" cy="37707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{{competitive_advantage}}</a:t>
            </a:r>
            <a:endParaRPr sz="800">
              <a:solidFill>
                <a:schemeClr val="dk1"/>
              </a:solidFill>
              <a:latin typeface="Calibri"/>
              <a:ea typeface="Calibri"/>
              <a:cs typeface="Calibri"/>
              <a:sym typeface="Calibri"/>
            </a:endParaRPr>
          </a:p>
        </p:txBody>
      </p:sp>
      <p:sp>
        <p:nvSpPr>
          <p:cNvPr id="260" name="Google Shape;260;p20"/>
          <p:cNvSpPr/>
          <p:nvPr/>
        </p:nvSpPr>
        <p:spPr>
          <a:xfrm>
            <a:off x="4242275" y="638725"/>
            <a:ext cx="4830000" cy="2053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a:t>
            </a:r>
            <a:r>
              <a:rPr lang="en-GB" sz="800"/>
              <a:t>peer_comparison_chart_1</a:t>
            </a:r>
            <a:r>
              <a:rPr lang="en-GB" sz="800"/>
              <a:t>}}</a:t>
            </a:r>
            <a:endParaRPr sz="800"/>
          </a:p>
        </p:txBody>
      </p:sp>
      <p:sp>
        <p:nvSpPr>
          <p:cNvPr id="261" name="Google Shape;261;p20"/>
          <p:cNvSpPr/>
          <p:nvPr/>
        </p:nvSpPr>
        <p:spPr>
          <a:xfrm>
            <a:off x="4242275" y="2797388"/>
            <a:ext cx="4830000" cy="2053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800">
                <a:solidFill>
                  <a:schemeClr val="dk1"/>
                </a:solidFill>
              </a:rPr>
              <a:t>{{peer_comparison_chart_2}}</a:t>
            </a:r>
            <a:endParaRPr sz="800"/>
          </a:p>
        </p:txBody>
      </p:sp>
      <p:sp>
        <p:nvSpPr>
          <p:cNvPr id="262" name="Google Shape;262;p2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64" name="Google Shape;264;p2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9</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65" name="Google Shape;265;p20"/>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66" name="Google Shape;266;p20"/>
          <p:cNvSpPr/>
          <p:nvPr/>
        </p:nvSpPr>
        <p:spPr>
          <a:xfrm>
            <a:off x="85050" y="622925"/>
            <a:ext cx="40923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67" name="Google Shape;267;p20"/>
          <p:cNvSpPr/>
          <p:nvPr/>
        </p:nvSpPr>
        <p:spPr>
          <a:xfrm>
            <a:off x="182875" y="655800"/>
            <a:ext cx="3955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{{competitive_advantage_heading}}</a:t>
            </a:r>
            <a:endParaRPr b="1" sz="1200">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sz="1800"/>
              <a:t>Growth Catalysts &amp; Timeline</a:t>
            </a:r>
            <a:endParaRPr sz="1800"/>
          </a:p>
        </p:txBody>
      </p:sp>
      <p:sp>
        <p:nvSpPr>
          <p:cNvPr id="273" name="Google Shape;273;p2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75" name="Google Shape;275;p21"/>
          <p:cNvSpPr/>
          <p:nvPr/>
        </p:nvSpPr>
        <p:spPr>
          <a:xfrm>
            <a:off x="4242275" y="2433225"/>
            <a:ext cx="4830000" cy="24177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a:t>
            </a:r>
            <a:r>
              <a:rPr lang="en-GB" sz="800">
                <a:solidFill>
                  <a:schemeClr val="dk1"/>
                </a:solidFill>
              </a:rPr>
              <a:t>catalyst_timeline_chart</a:t>
            </a:r>
            <a:r>
              <a:rPr lang="en-GB" sz="800">
                <a:solidFill>
                  <a:schemeClr val="dk1"/>
                </a:solidFill>
              </a:rPr>
              <a:t>}}</a:t>
            </a:r>
            <a:endParaRPr sz="800"/>
          </a:p>
        </p:txBody>
      </p:sp>
      <p:sp>
        <p:nvSpPr>
          <p:cNvPr id="276" name="Google Shape;276;p21"/>
          <p:cNvSpPr txBox="1"/>
          <p:nvPr/>
        </p:nvSpPr>
        <p:spPr>
          <a:xfrm>
            <a:off x="128588" y="2215044"/>
            <a:ext cx="405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77" name="Google Shape;277;p21"/>
          <p:cNvSpPr/>
          <p:nvPr/>
        </p:nvSpPr>
        <p:spPr>
          <a:xfrm>
            <a:off x="85050" y="638725"/>
            <a:ext cx="4092300" cy="42078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8" name="Google Shape;278;p21"/>
          <p:cNvSpPr/>
          <p:nvPr/>
        </p:nvSpPr>
        <p:spPr>
          <a:xfrm>
            <a:off x="128600" y="1026900"/>
            <a:ext cx="3999000" cy="37737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{{investment_thesis_detailed}}</a:t>
            </a:r>
            <a:endParaRPr sz="800">
              <a:solidFill>
                <a:schemeClr val="dk1"/>
              </a:solidFill>
              <a:latin typeface="Calibri"/>
              <a:ea typeface="Calibri"/>
              <a:cs typeface="Calibri"/>
              <a:sym typeface="Calibri"/>
            </a:endParaRPr>
          </a:p>
        </p:txBody>
      </p:sp>
      <p:sp>
        <p:nvSpPr>
          <p:cNvPr id="279" name="Google Shape;279;p21"/>
          <p:cNvSpPr/>
          <p:nvPr/>
        </p:nvSpPr>
        <p:spPr>
          <a:xfrm>
            <a:off x="4242275" y="638725"/>
            <a:ext cx="4823700" cy="1713900"/>
          </a:xfrm>
          <a:prstGeom prst="rect">
            <a:avLst/>
          </a:prstGeom>
          <a:solidFill>
            <a:srgbClr val="1F469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0" name="Google Shape;280;p21"/>
          <p:cNvSpPr/>
          <p:nvPr/>
        </p:nvSpPr>
        <p:spPr>
          <a:xfrm>
            <a:off x="4294725" y="683675"/>
            <a:ext cx="4730700" cy="1620000"/>
          </a:xfrm>
          <a:prstGeom prst="rect">
            <a:avLst/>
          </a:prstGeom>
          <a:noFill/>
          <a:ln cap="flat" cmpd="sng" w="9525">
            <a:solidFill>
              <a:srgbClr val="1F469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{{key_catalyst}}</a:t>
            </a:r>
            <a:endParaRPr sz="800">
              <a:solidFill>
                <a:srgbClr val="FFFFFF"/>
              </a:solidFill>
              <a:latin typeface="Calibri"/>
              <a:ea typeface="Calibri"/>
              <a:cs typeface="Calibri"/>
              <a:sym typeface="Calibri"/>
            </a:endParaRPr>
          </a:p>
        </p:txBody>
      </p:sp>
      <p:sp>
        <p:nvSpPr>
          <p:cNvPr id="281" name="Google Shape;281;p2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83" name="Google Shape;283;p2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10</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84" name="Google Shape;284;p21"/>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85" name="Google Shape;285;p21"/>
          <p:cNvSpPr/>
          <p:nvPr/>
        </p:nvSpPr>
        <p:spPr>
          <a:xfrm>
            <a:off x="85050" y="622925"/>
            <a:ext cx="40923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6" name="Google Shape;286;p21"/>
          <p:cNvSpPr/>
          <p:nvPr/>
        </p:nvSpPr>
        <p:spPr>
          <a:xfrm>
            <a:off x="182875" y="655800"/>
            <a:ext cx="3955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{{investment_thesis_detailed_heading}}</a:t>
            </a:r>
            <a:endParaRPr b="1" sz="1200">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Commentary and Business Traction</a:t>
            </a:r>
            <a:endParaRPr sz="1800"/>
          </a:p>
        </p:txBody>
      </p:sp>
      <p:sp>
        <p:nvSpPr>
          <p:cNvPr id="292" name="Google Shape;292;p22"/>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 name="Google Shape;293;p22"/>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94" name="Google Shape;294;p22"/>
          <p:cNvSpPr/>
          <p:nvPr/>
        </p:nvSpPr>
        <p:spPr>
          <a:xfrm>
            <a:off x="210600" y="664117"/>
            <a:ext cx="43137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95" name="Google Shape;295;p22"/>
          <p:cNvSpPr/>
          <p:nvPr/>
        </p:nvSpPr>
        <p:spPr>
          <a:xfrm>
            <a:off x="261155" y="995718"/>
            <a:ext cx="42081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{{management_content_1}}</a:t>
            </a:r>
            <a:endParaRPr sz="800">
              <a:solidFill>
                <a:schemeClr val="dk1"/>
              </a:solidFill>
              <a:latin typeface="Calibri"/>
              <a:ea typeface="Calibri"/>
              <a:cs typeface="Calibri"/>
              <a:sym typeface="Calibri"/>
            </a:endParaRPr>
          </a:p>
        </p:txBody>
      </p:sp>
      <p:sp>
        <p:nvSpPr>
          <p:cNvPr id="296" name="Google Shape;296;p22"/>
          <p:cNvSpPr/>
          <p:nvPr/>
        </p:nvSpPr>
        <p:spPr>
          <a:xfrm>
            <a:off x="210408" y="662350"/>
            <a:ext cx="43137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261155" y="709104"/>
            <a:ext cx="32766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B3A6B"/>
                </a:solidFill>
                <a:latin typeface="Calibri"/>
                <a:ea typeface="Calibri"/>
                <a:cs typeface="Calibri"/>
                <a:sym typeface="Calibri"/>
              </a:rPr>
              <a:t>{{management_commentry_heading_1}}</a:t>
            </a:r>
            <a:endParaRPr b="1" sz="1200">
              <a:solidFill>
                <a:srgbClr val="1B3A6B"/>
              </a:solidFill>
              <a:latin typeface="Calibri"/>
              <a:ea typeface="Calibri"/>
              <a:cs typeface="Calibri"/>
              <a:sym typeface="Calibri"/>
            </a:endParaRPr>
          </a:p>
        </p:txBody>
      </p:sp>
      <p:sp>
        <p:nvSpPr>
          <p:cNvPr id="298" name="Google Shape;298;p22"/>
          <p:cNvSpPr/>
          <p:nvPr/>
        </p:nvSpPr>
        <p:spPr>
          <a:xfrm>
            <a:off x="208467" y="1719719"/>
            <a:ext cx="43137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99" name="Google Shape;299;p22"/>
          <p:cNvSpPr/>
          <p:nvPr/>
        </p:nvSpPr>
        <p:spPr>
          <a:xfrm>
            <a:off x="259022" y="2051320"/>
            <a:ext cx="42081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{{management_content_2}}</a:t>
            </a:r>
            <a:endParaRPr sz="800">
              <a:solidFill>
                <a:schemeClr val="dk1"/>
              </a:solidFill>
              <a:latin typeface="Calibri"/>
              <a:ea typeface="Calibri"/>
              <a:cs typeface="Calibri"/>
              <a:sym typeface="Calibri"/>
            </a:endParaRPr>
          </a:p>
        </p:txBody>
      </p:sp>
      <p:sp>
        <p:nvSpPr>
          <p:cNvPr id="300" name="Google Shape;300;p22"/>
          <p:cNvSpPr/>
          <p:nvPr/>
        </p:nvSpPr>
        <p:spPr>
          <a:xfrm>
            <a:off x="208275" y="1717952"/>
            <a:ext cx="43137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p:nvPr/>
        </p:nvSpPr>
        <p:spPr>
          <a:xfrm>
            <a:off x="259022" y="1764706"/>
            <a:ext cx="32766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B3A6B"/>
                </a:solidFill>
                <a:latin typeface="Calibri"/>
                <a:ea typeface="Calibri"/>
                <a:cs typeface="Calibri"/>
                <a:sym typeface="Calibri"/>
              </a:rPr>
              <a:t>{{management_commentry_heading_2}}</a:t>
            </a:r>
            <a:endParaRPr b="1" sz="1200">
              <a:solidFill>
                <a:srgbClr val="1B3A6B"/>
              </a:solidFill>
              <a:latin typeface="Calibri"/>
              <a:ea typeface="Calibri"/>
              <a:cs typeface="Calibri"/>
              <a:sym typeface="Calibri"/>
            </a:endParaRPr>
          </a:p>
        </p:txBody>
      </p:sp>
      <p:sp>
        <p:nvSpPr>
          <p:cNvPr id="302" name="Google Shape;302;p22"/>
          <p:cNvSpPr/>
          <p:nvPr/>
        </p:nvSpPr>
        <p:spPr>
          <a:xfrm>
            <a:off x="211763" y="2793371"/>
            <a:ext cx="43137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03" name="Google Shape;303;p22"/>
          <p:cNvSpPr/>
          <p:nvPr/>
        </p:nvSpPr>
        <p:spPr>
          <a:xfrm>
            <a:off x="262318" y="3124972"/>
            <a:ext cx="42081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{{management_content_3}}</a:t>
            </a:r>
            <a:endParaRPr sz="800">
              <a:solidFill>
                <a:schemeClr val="dk1"/>
              </a:solidFill>
              <a:latin typeface="Calibri"/>
              <a:ea typeface="Calibri"/>
              <a:cs typeface="Calibri"/>
              <a:sym typeface="Calibri"/>
            </a:endParaRPr>
          </a:p>
        </p:txBody>
      </p:sp>
      <p:sp>
        <p:nvSpPr>
          <p:cNvPr id="304" name="Google Shape;304;p22"/>
          <p:cNvSpPr/>
          <p:nvPr/>
        </p:nvSpPr>
        <p:spPr>
          <a:xfrm>
            <a:off x="211571" y="2791604"/>
            <a:ext cx="43137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262318" y="2838358"/>
            <a:ext cx="32766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B3A6B"/>
                </a:solidFill>
                <a:latin typeface="Calibri"/>
                <a:ea typeface="Calibri"/>
                <a:cs typeface="Calibri"/>
                <a:sym typeface="Calibri"/>
              </a:rPr>
              <a:t>{{management_commentry_heading_3}}</a:t>
            </a:r>
            <a:endParaRPr b="1" sz="1200">
              <a:solidFill>
                <a:srgbClr val="1B3A6B"/>
              </a:solidFill>
              <a:latin typeface="Calibri"/>
              <a:ea typeface="Calibri"/>
              <a:cs typeface="Calibri"/>
              <a:sym typeface="Calibri"/>
            </a:endParaRPr>
          </a:p>
        </p:txBody>
      </p:sp>
      <p:sp>
        <p:nvSpPr>
          <p:cNvPr id="306" name="Google Shape;306;p22"/>
          <p:cNvSpPr/>
          <p:nvPr/>
        </p:nvSpPr>
        <p:spPr>
          <a:xfrm>
            <a:off x="209629" y="3848973"/>
            <a:ext cx="43137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07" name="Google Shape;307;p22"/>
          <p:cNvSpPr/>
          <p:nvPr/>
        </p:nvSpPr>
        <p:spPr>
          <a:xfrm>
            <a:off x="260184" y="4180574"/>
            <a:ext cx="42081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{{management_content_4}}</a:t>
            </a:r>
            <a:endParaRPr sz="800">
              <a:solidFill>
                <a:schemeClr val="dk1"/>
              </a:solidFill>
              <a:latin typeface="Calibri"/>
              <a:ea typeface="Calibri"/>
              <a:cs typeface="Calibri"/>
              <a:sym typeface="Calibri"/>
            </a:endParaRPr>
          </a:p>
        </p:txBody>
      </p:sp>
      <p:sp>
        <p:nvSpPr>
          <p:cNvPr id="308" name="Google Shape;308;p22"/>
          <p:cNvSpPr/>
          <p:nvPr/>
        </p:nvSpPr>
        <p:spPr>
          <a:xfrm>
            <a:off x="209438" y="3847206"/>
            <a:ext cx="43137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260184" y="3893960"/>
            <a:ext cx="32766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1B3A6B"/>
                </a:solidFill>
                <a:latin typeface="Calibri"/>
                <a:ea typeface="Calibri"/>
                <a:cs typeface="Calibri"/>
                <a:sym typeface="Calibri"/>
              </a:rPr>
              <a:t>{{management_commentry_heading_4}}</a:t>
            </a:r>
            <a:endParaRPr b="1" sz="1200">
              <a:solidFill>
                <a:srgbClr val="1B3A6B"/>
              </a:solidFill>
              <a:latin typeface="Calibri"/>
              <a:ea typeface="Calibri"/>
              <a:cs typeface="Calibri"/>
              <a:sym typeface="Calibri"/>
            </a:endParaRPr>
          </a:p>
        </p:txBody>
      </p:sp>
      <p:sp>
        <p:nvSpPr>
          <p:cNvPr id="310" name="Google Shape;310;p22"/>
          <p:cNvSpPr/>
          <p:nvPr/>
        </p:nvSpPr>
        <p:spPr>
          <a:xfrm>
            <a:off x="4617500" y="666129"/>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11" name="Google Shape;311;p22"/>
          <p:cNvSpPr/>
          <p:nvPr/>
        </p:nvSpPr>
        <p:spPr>
          <a:xfrm>
            <a:off x="4668050" y="99772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{{management_content_5}}</a:t>
            </a:r>
            <a:endParaRPr sz="800">
              <a:solidFill>
                <a:schemeClr val="dk1"/>
              </a:solidFill>
              <a:latin typeface="Calibri"/>
              <a:ea typeface="Calibri"/>
              <a:cs typeface="Calibri"/>
              <a:sym typeface="Calibri"/>
            </a:endParaRPr>
          </a:p>
        </p:txBody>
      </p:sp>
      <p:sp>
        <p:nvSpPr>
          <p:cNvPr id="312" name="Google Shape;312;p22"/>
          <p:cNvSpPr/>
          <p:nvPr/>
        </p:nvSpPr>
        <p:spPr>
          <a:xfrm>
            <a:off x="4617308" y="664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3" name="Google Shape;313;p22"/>
          <p:cNvSpPr/>
          <p:nvPr/>
        </p:nvSpPr>
        <p:spPr>
          <a:xfrm>
            <a:off x="4668055" y="711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{{management_commentry_heading_5}}</a:t>
            </a:r>
            <a:endParaRPr b="1" sz="1200">
              <a:solidFill>
                <a:schemeClr val="lt1"/>
              </a:solidFill>
              <a:latin typeface="Calibri"/>
              <a:ea typeface="Calibri"/>
              <a:cs typeface="Calibri"/>
              <a:sym typeface="Calibri"/>
            </a:endParaRPr>
          </a:p>
        </p:txBody>
      </p:sp>
      <p:sp>
        <p:nvSpPr>
          <p:cNvPr id="314" name="Google Shape;314;p22"/>
          <p:cNvSpPr/>
          <p:nvPr/>
        </p:nvSpPr>
        <p:spPr>
          <a:xfrm>
            <a:off x="4618875" y="2794367"/>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15" name="Google Shape;315;p22"/>
          <p:cNvSpPr/>
          <p:nvPr/>
        </p:nvSpPr>
        <p:spPr>
          <a:xfrm>
            <a:off x="4669425" y="312597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{{management_content_7}}</a:t>
            </a:r>
            <a:endParaRPr sz="800">
              <a:solidFill>
                <a:schemeClr val="dk1"/>
              </a:solidFill>
              <a:latin typeface="Calibri"/>
              <a:ea typeface="Calibri"/>
              <a:cs typeface="Calibri"/>
              <a:sym typeface="Calibri"/>
            </a:endParaRPr>
          </a:p>
        </p:txBody>
      </p:sp>
      <p:sp>
        <p:nvSpPr>
          <p:cNvPr id="316" name="Google Shape;316;p22"/>
          <p:cNvSpPr/>
          <p:nvPr/>
        </p:nvSpPr>
        <p:spPr>
          <a:xfrm>
            <a:off x="4618683" y="2792600"/>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7" name="Google Shape;317;p22"/>
          <p:cNvSpPr/>
          <p:nvPr/>
        </p:nvSpPr>
        <p:spPr>
          <a:xfrm>
            <a:off x="4669430" y="2839354"/>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{{management_commentry_heading_7}}</a:t>
            </a:r>
            <a:endParaRPr b="1" sz="1200">
              <a:solidFill>
                <a:schemeClr val="lt1"/>
              </a:solidFill>
              <a:latin typeface="Calibri"/>
              <a:ea typeface="Calibri"/>
              <a:cs typeface="Calibri"/>
              <a:sym typeface="Calibri"/>
            </a:endParaRPr>
          </a:p>
        </p:txBody>
      </p:sp>
      <p:sp>
        <p:nvSpPr>
          <p:cNvPr id="318" name="Google Shape;318;p22"/>
          <p:cNvSpPr/>
          <p:nvPr/>
        </p:nvSpPr>
        <p:spPr>
          <a:xfrm>
            <a:off x="4616625" y="3858492"/>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19" name="Google Shape;319;p22"/>
          <p:cNvSpPr/>
          <p:nvPr/>
        </p:nvSpPr>
        <p:spPr>
          <a:xfrm>
            <a:off x="4667175" y="4190100"/>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{{management_content_8}}</a:t>
            </a:r>
            <a:endParaRPr sz="800">
              <a:solidFill>
                <a:schemeClr val="dk1"/>
              </a:solidFill>
              <a:latin typeface="Calibri"/>
              <a:ea typeface="Calibri"/>
              <a:cs typeface="Calibri"/>
              <a:sym typeface="Calibri"/>
            </a:endParaRPr>
          </a:p>
        </p:txBody>
      </p:sp>
      <p:sp>
        <p:nvSpPr>
          <p:cNvPr id="320" name="Google Shape;320;p22"/>
          <p:cNvSpPr/>
          <p:nvPr/>
        </p:nvSpPr>
        <p:spPr>
          <a:xfrm>
            <a:off x="4616433" y="385672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1" name="Google Shape;321;p22"/>
          <p:cNvSpPr/>
          <p:nvPr/>
        </p:nvSpPr>
        <p:spPr>
          <a:xfrm>
            <a:off x="4667180" y="390347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{{management_commentry_heading_8}}</a:t>
            </a:r>
            <a:endParaRPr b="1" sz="1200">
              <a:solidFill>
                <a:schemeClr val="lt1"/>
              </a:solidFill>
              <a:latin typeface="Calibri"/>
              <a:ea typeface="Calibri"/>
              <a:cs typeface="Calibri"/>
              <a:sym typeface="Calibri"/>
            </a:endParaRPr>
          </a:p>
        </p:txBody>
      </p:sp>
      <p:sp>
        <p:nvSpPr>
          <p:cNvPr id="322" name="Google Shape;322;p2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24" name="Google Shape;324;p2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25" name="Google Shape;325;p22"/>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26" name="Google Shape;326;p22"/>
          <p:cNvSpPr/>
          <p:nvPr/>
        </p:nvSpPr>
        <p:spPr>
          <a:xfrm>
            <a:off x="4618975" y="1731129"/>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27" name="Google Shape;327;p22"/>
          <p:cNvSpPr/>
          <p:nvPr/>
        </p:nvSpPr>
        <p:spPr>
          <a:xfrm>
            <a:off x="4669525" y="2062738"/>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{{management_content_6}}</a:t>
            </a:r>
            <a:endParaRPr sz="800">
              <a:solidFill>
                <a:schemeClr val="dk1"/>
              </a:solidFill>
              <a:latin typeface="Calibri"/>
              <a:ea typeface="Calibri"/>
              <a:cs typeface="Calibri"/>
              <a:sym typeface="Calibri"/>
            </a:endParaRPr>
          </a:p>
        </p:txBody>
      </p:sp>
      <p:sp>
        <p:nvSpPr>
          <p:cNvPr id="328" name="Google Shape;328;p22"/>
          <p:cNvSpPr/>
          <p:nvPr/>
        </p:nvSpPr>
        <p:spPr>
          <a:xfrm>
            <a:off x="4618783" y="1729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9" name="Google Shape;329;p22"/>
          <p:cNvSpPr/>
          <p:nvPr/>
        </p:nvSpPr>
        <p:spPr>
          <a:xfrm>
            <a:off x="4669530" y="1776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{{management_commentry_heading_6}}</a:t>
            </a:r>
            <a:endParaRPr b="1" sz="12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Analysis and Corporate Governance</a:t>
            </a:r>
            <a:endParaRPr sz="1800"/>
          </a:p>
        </p:txBody>
      </p:sp>
      <p:sp>
        <p:nvSpPr>
          <p:cNvPr id="335" name="Google Shape;335;p2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6" name="Google Shape;336;p2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37" name="Google Shape;337;p23"/>
          <p:cNvSpPr/>
          <p:nvPr/>
        </p:nvSpPr>
        <p:spPr>
          <a:xfrm>
            <a:off x="80425" y="691925"/>
            <a:ext cx="4419600" cy="41367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{{governance_table}}</a:t>
            </a:r>
            <a:endParaRPr sz="800"/>
          </a:p>
        </p:txBody>
      </p:sp>
      <p:sp>
        <p:nvSpPr>
          <p:cNvPr id="338" name="Google Shape;338;p23"/>
          <p:cNvSpPr/>
          <p:nvPr/>
        </p:nvSpPr>
        <p:spPr>
          <a:xfrm>
            <a:off x="4556501" y="691925"/>
            <a:ext cx="4510500" cy="297000"/>
          </a:xfrm>
          <a:prstGeom prst="rect">
            <a:avLst/>
          </a:prstGeom>
          <a:solidFill>
            <a:srgbClr val="1F4690"/>
          </a:solidFill>
          <a:ln cap="flat" cmpd="sng" w="14725">
            <a:solidFill>
              <a:srgbClr val="1B3A6B"/>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9" name="Google Shape;339;p23"/>
          <p:cNvSpPr/>
          <p:nvPr/>
        </p:nvSpPr>
        <p:spPr>
          <a:xfrm>
            <a:off x="4630788" y="691925"/>
            <a:ext cx="4351200" cy="2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5"/>
              <a:buFont typeface="Calibri"/>
              <a:buNone/>
            </a:pPr>
            <a:r>
              <a:rPr b="1" i="0" lang="en-GB" sz="1245" u="none" cap="none" strike="noStrike">
                <a:solidFill>
                  <a:srgbClr val="FFFFFF"/>
                </a:solidFill>
                <a:latin typeface="Calibri"/>
                <a:ea typeface="Calibri"/>
                <a:cs typeface="Calibri"/>
                <a:sym typeface="Calibri"/>
              </a:rPr>
              <a:t>GOVERNANCE INDICATORS</a:t>
            </a:r>
            <a:endParaRPr b="0" i="0" sz="1245" u="none" cap="none" strike="noStrike">
              <a:solidFill>
                <a:srgbClr val="000000"/>
              </a:solidFill>
              <a:latin typeface="Calibri"/>
              <a:ea typeface="Calibri"/>
              <a:cs typeface="Calibri"/>
              <a:sym typeface="Calibri"/>
            </a:endParaRPr>
          </a:p>
        </p:txBody>
      </p:sp>
      <p:sp>
        <p:nvSpPr>
          <p:cNvPr id="340" name="Google Shape;340;p23"/>
          <p:cNvSpPr/>
          <p:nvPr/>
        </p:nvSpPr>
        <p:spPr>
          <a:xfrm>
            <a:off x="4556500" y="1042125"/>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1" name="Google Shape;341;p23"/>
          <p:cNvSpPr/>
          <p:nvPr/>
        </p:nvSpPr>
        <p:spPr>
          <a:xfrm>
            <a:off x="4603749" y="1052086"/>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{{indicators_1}}</a:t>
            </a:r>
            <a:endParaRPr b="0" i="0" sz="828" u="none" cap="none" strike="noStrike">
              <a:solidFill>
                <a:srgbClr val="000000"/>
              </a:solidFill>
              <a:latin typeface="Calibri"/>
              <a:ea typeface="Calibri"/>
              <a:cs typeface="Calibri"/>
              <a:sym typeface="Calibri"/>
            </a:endParaRPr>
          </a:p>
        </p:txBody>
      </p:sp>
      <p:sp>
        <p:nvSpPr>
          <p:cNvPr id="342" name="Google Shape;342;p23"/>
          <p:cNvSpPr/>
          <p:nvPr/>
        </p:nvSpPr>
        <p:spPr>
          <a:xfrm>
            <a:off x="4558770" y="1681611"/>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3" name="Google Shape;343;p23"/>
          <p:cNvSpPr/>
          <p:nvPr/>
        </p:nvSpPr>
        <p:spPr>
          <a:xfrm>
            <a:off x="4606019" y="1691572"/>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{{indicators_2}}</a:t>
            </a:r>
            <a:endParaRPr b="0" i="0" sz="828" u="none" cap="none" strike="noStrike">
              <a:solidFill>
                <a:srgbClr val="000000"/>
              </a:solidFill>
              <a:latin typeface="Calibri"/>
              <a:ea typeface="Calibri"/>
              <a:cs typeface="Calibri"/>
              <a:sym typeface="Calibri"/>
            </a:endParaRPr>
          </a:p>
        </p:txBody>
      </p:sp>
      <p:sp>
        <p:nvSpPr>
          <p:cNvPr id="344" name="Google Shape;344;p23"/>
          <p:cNvSpPr/>
          <p:nvPr/>
        </p:nvSpPr>
        <p:spPr>
          <a:xfrm>
            <a:off x="4560975" y="2321097"/>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5" name="Google Shape;345;p23"/>
          <p:cNvSpPr/>
          <p:nvPr/>
        </p:nvSpPr>
        <p:spPr>
          <a:xfrm>
            <a:off x="4608224" y="2331058"/>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{{indicators_3}}</a:t>
            </a:r>
            <a:endParaRPr b="0" i="0" sz="828" u="none" cap="none" strike="noStrike">
              <a:solidFill>
                <a:srgbClr val="000000"/>
              </a:solidFill>
              <a:latin typeface="Calibri"/>
              <a:ea typeface="Calibri"/>
              <a:cs typeface="Calibri"/>
              <a:sym typeface="Calibri"/>
            </a:endParaRPr>
          </a:p>
        </p:txBody>
      </p:sp>
      <p:sp>
        <p:nvSpPr>
          <p:cNvPr id="346" name="Google Shape;346;p23"/>
          <p:cNvSpPr/>
          <p:nvPr/>
        </p:nvSpPr>
        <p:spPr>
          <a:xfrm>
            <a:off x="4563245" y="2960583"/>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7" name="Google Shape;347;p23"/>
          <p:cNvSpPr/>
          <p:nvPr/>
        </p:nvSpPr>
        <p:spPr>
          <a:xfrm>
            <a:off x="4610494" y="2970544"/>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{{indicators_4}}</a:t>
            </a:r>
            <a:endParaRPr b="0" i="0" sz="828" u="none" cap="none" strike="noStrike">
              <a:solidFill>
                <a:srgbClr val="000000"/>
              </a:solidFill>
              <a:latin typeface="Calibri"/>
              <a:ea typeface="Calibri"/>
              <a:cs typeface="Calibri"/>
              <a:sym typeface="Calibri"/>
            </a:endParaRPr>
          </a:p>
        </p:txBody>
      </p:sp>
      <p:sp>
        <p:nvSpPr>
          <p:cNvPr id="348" name="Google Shape;348;p23"/>
          <p:cNvSpPr/>
          <p:nvPr/>
        </p:nvSpPr>
        <p:spPr>
          <a:xfrm>
            <a:off x="4565450" y="3600069"/>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9" name="Google Shape;349;p23"/>
          <p:cNvSpPr/>
          <p:nvPr/>
        </p:nvSpPr>
        <p:spPr>
          <a:xfrm>
            <a:off x="4612699" y="3610030"/>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{{indicators_5}}</a:t>
            </a:r>
            <a:endParaRPr b="0" i="0" sz="828" u="none" cap="none" strike="noStrike">
              <a:solidFill>
                <a:srgbClr val="000000"/>
              </a:solidFill>
              <a:latin typeface="Calibri"/>
              <a:ea typeface="Calibri"/>
              <a:cs typeface="Calibri"/>
              <a:sym typeface="Calibri"/>
            </a:endParaRPr>
          </a:p>
        </p:txBody>
      </p:sp>
      <p:sp>
        <p:nvSpPr>
          <p:cNvPr id="350" name="Google Shape;350;p23"/>
          <p:cNvSpPr/>
          <p:nvPr/>
        </p:nvSpPr>
        <p:spPr>
          <a:xfrm>
            <a:off x="4567720" y="4239555"/>
            <a:ext cx="4510500" cy="589200"/>
          </a:xfrm>
          <a:prstGeom prst="rect">
            <a:avLst/>
          </a:prstGeom>
          <a:solidFill>
            <a:schemeClr val="lt1"/>
          </a:solidFill>
          <a:ln cap="flat" cmpd="sng" w="14725">
            <a:solidFill>
              <a:schemeClr val="dk1"/>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51" name="Google Shape;351;p23"/>
          <p:cNvSpPr/>
          <p:nvPr/>
        </p:nvSpPr>
        <p:spPr>
          <a:xfrm>
            <a:off x="4614969" y="4249516"/>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{{indicators_6}}</a:t>
            </a:r>
            <a:endParaRPr b="0" i="0" sz="828" u="none" cap="none" strike="noStrike">
              <a:solidFill>
                <a:srgbClr val="000000"/>
              </a:solidFill>
              <a:latin typeface="Calibri"/>
              <a:ea typeface="Calibri"/>
              <a:cs typeface="Calibri"/>
              <a:sym typeface="Calibri"/>
            </a:endParaRPr>
          </a:p>
        </p:txBody>
      </p:sp>
      <p:sp>
        <p:nvSpPr>
          <p:cNvPr id="352" name="Google Shape;352;p2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3"/>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54" name="Google Shape;354;p2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55" name="Google Shape;355;p23"/>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Earnings Forecast</a:t>
            </a:r>
            <a:endParaRPr sz="1800"/>
          </a:p>
        </p:txBody>
      </p:sp>
      <p:sp>
        <p:nvSpPr>
          <p:cNvPr id="361" name="Google Shape;361;p2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2" name="Google Shape;362;p2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63" name="Google Shape;363;p2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4"/>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65" name="Google Shape;365;p2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66" name="Google Shape;366;p24"/>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67" name="Google Shape;367;p24"/>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{{earnings_forecast_table}}</a:t>
            </a:r>
            <a:endParaRPr sz="800"/>
          </a:p>
        </p:txBody>
      </p:sp>
      <p:sp>
        <p:nvSpPr>
          <p:cNvPr id="368" name="Google Shape;368;p24"/>
          <p:cNvSpPr/>
          <p:nvPr/>
        </p:nvSpPr>
        <p:spPr>
          <a:xfrm>
            <a:off x="6633716" y="636175"/>
            <a:ext cx="2438400" cy="4250100"/>
          </a:xfrm>
          <a:prstGeom prst="rect">
            <a:avLst/>
          </a:prstGeom>
          <a:solidFill>
            <a:srgbClr val="FFE5B4"/>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4"/>
          <p:cNvSpPr/>
          <p:nvPr/>
        </p:nvSpPr>
        <p:spPr>
          <a:xfrm>
            <a:off x="6679550" y="963075"/>
            <a:ext cx="2349600" cy="38799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{{forecast_assumptions}}</a:t>
            </a:r>
            <a:endParaRPr sz="800">
              <a:solidFill>
                <a:srgbClr val="0D1B3E"/>
              </a:solidFill>
              <a:latin typeface="Calibri"/>
              <a:ea typeface="Calibri"/>
              <a:cs typeface="Calibri"/>
              <a:sym typeface="Calibri"/>
            </a:endParaRPr>
          </a:p>
        </p:txBody>
      </p:sp>
      <p:sp>
        <p:nvSpPr>
          <p:cNvPr id="370" name="Google Shape;370;p24"/>
          <p:cNvSpPr/>
          <p:nvPr/>
        </p:nvSpPr>
        <p:spPr>
          <a:xfrm>
            <a:off x="6633626" y="638725"/>
            <a:ext cx="24384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1F4690"/>
                </a:solidFill>
                <a:latin typeface="Calibri"/>
                <a:ea typeface="Calibri"/>
                <a:cs typeface="Calibri"/>
                <a:sym typeface="Calibri"/>
              </a:rPr>
              <a:t>Forecast Assumptions</a:t>
            </a:r>
            <a:endParaRPr b="1" sz="1200">
              <a:solidFill>
                <a:srgbClr val="1F469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Financials</a:t>
            </a:r>
            <a:endParaRPr sz="1800"/>
          </a:p>
        </p:txBody>
      </p:sp>
      <p:sp>
        <p:nvSpPr>
          <p:cNvPr id="376" name="Google Shape;376;p2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7" name="Google Shape;377;p2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78" name="Google Shape;378;p25"/>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{{financials_table}}</a:t>
            </a:r>
            <a:endParaRPr sz="800"/>
          </a:p>
        </p:txBody>
      </p:sp>
      <p:sp>
        <p:nvSpPr>
          <p:cNvPr id="379" name="Google Shape;379;p25"/>
          <p:cNvSpPr/>
          <p:nvPr/>
        </p:nvSpPr>
        <p:spPr>
          <a:xfrm>
            <a:off x="6633716" y="636175"/>
            <a:ext cx="2438400" cy="4250100"/>
          </a:xfrm>
          <a:prstGeom prst="rect">
            <a:avLst/>
          </a:prstGeom>
          <a:solidFill>
            <a:srgbClr val="FFE5B4"/>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5"/>
          <p:cNvSpPr/>
          <p:nvPr/>
        </p:nvSpPr>
        <p:spPr>
          <a:xfrm>
            <a:off x="6679550" y="963075"/>
            <a:ext cx="2349600" cy="38862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{{financial_commentary}}</a:t>
            </a:r>
            <a:endParaRPr sz="800">
              <a:solidFill>
                <a:srgbClr val="0D1B3E"/>
              </a:solidFill>
              <a:latin typeface="Calibri"/>
              <a:ea typeface="Calibri"/>
              <a:cs typeface="Calibri"/>
              <a:sym typeface="Calibri"/>
            </a:endParaRPr>
          </a:p>
        </p:txBody>
      </p:sp>
      <p:sp>
        <p:nvSpPr>
          <p:cNvPr id="381" name="Google Shape;381;p2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83" name="Google Shape;383;p2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84" name="Google Shape;384;p25"/>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85" name="Google Shape;385;p25"/>
          <p:cNvSpPr/>
          <p:nvPr/>
        </p:nvSpPr>
        <p:spPr>
          <a:xfrm>
            <a:off x="6633626" y="638725"/>
            <a:ext cx="24384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1F4690"/>
                </a:solidFill>
                <a:latin typeface="Calibri"/>
                <a:ea typeface="Calibri"/>
                <a:cs typeface="Calibri"/>
                <a:sym typeface="Calibri"/>
              </a:rPr>
              <a:t>Financial Summary</a:t>
            </a:r>
            <a:endParaRPr>
              <a:solidFill>
                <a:srgbClr val="1F469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Valuations</a:t>
            </a:r>
            <a:endParaRPr b="1" sz="1800">
              <a:solidFill>
                <a:schemeClr val="lt1"/>
              </a:solidFill>
              <a:latin typeface="Calibri"/>
              <a:ea typeface="Calibri"/>
              <a:cs typeface="Calibri"/>
              <a:sym typeface="Calibri"/>
            </a:endParaRPr>
          </a:p>
        </p:txBody>
      </p:sp>
      <p:sp>
        <p:nvSpPr>
          <p:cNvPr id="391" name="Google Shape;391;p2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2" name="Google Shape;392;p2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93" name="Google Shape;393;p26"/>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{{valuations_table}}</a:t>
            </a:r>
            <a:endParaRPr sz="800"/>
          </a:p>
        </p:txBody>
      </p:sp>
      <p:sp>
        <p:nvSpPr>
          <p:cNvPr id="394" name="Google Shape;394;p26"/>
          <p:cNvSpPr/>
          <p:nvPr/>
        </p:nvSpPr>
        <p:spPr>
          <a:xfrm>
            <a:off x="6633717" y="636175"/>
            <a:ext cx="2438400" cy="4250100"/>
          </a:xfrm>
          <a:prstGeom prst="rect">
            <a:avLst/>
          </a:prstGeom>
          <a:solidFill>
            <a:srgbClr val="FFE5B4"/>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6"/>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97" name="Google Shape;397;p2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98" name="Google Shape;398;p26"/>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99" name="Google Shape;399;p26"/>
          <p:cNvSpPr/>
          <p:nvPr/>
        </p:nvSpPr>
        <p:spPr>
          <a:xfrm>
            <a:off x="6633627" y="638725"/>
            <a:ext cx="24384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1F4690"/>
                </a:solidFill>
                <a:latin typeface="Calibri"/>
                <a:ea typeface="Calibri"/>
                <a:cs typeface="Calibri"/>
                <a:sym typeface="Calibri"/>
              </a:rPr>
              <a:t>Valuation </a:t>
            </a:r>
            <a:r>
              <a:rPr b="1" lang="en-GB" sz="1200">
                <a:solidFill>
                  <a:srgbClr val="1F4690"/>
                </a:solidFill>
                <a:latin typeface="Calibri"/>
                <a:ea typeface="Calibri"/>
                <a:cs typeface="Calibri"/>
                <a:sym typeface="Calibri"/>
              </a:rPr>
              <a:t>Summary</a:t>
            </a:r>
            <a:endParaRPr>
              <a:solidFill>
                <a:srgbClr val="1F4690"/>
              </a:solidFill>
            </a:endParaRPr>
          </a:p>
        </p:txBody>
      </p:sp>
      <p:sp>
        <p:nvSpPr>
          <p:cNvPr id="400" name="Google Shape;400;p26"/>
          <p:cNvSpPr/>
          <p:nvPr/>
        </p:nvSpPr>
        <p:spPr>
          <a:xfrm>
            <a:off x="6679550" y="963075"/>
            <a:ext cx="2349600" cy="3886200"/>
          </a:xfrm>
          <a:prstGeom prst="rect">
            <a:avLst/>
          </a:prstGeom>
          <a:noFill/>
          <a:ln cap="flat" cmpd="sng" w="9525">
            <a:solidFill>
              <a:srgbClr val="FFE5B4"/>
            </a:solidFill>
            <a:prstDash val="solid"/>
            <a:round/>
            <a:headEnd len="sm" w="sm" type="none"/>
            <a:tailEnd len="sm" w="sm" type="none"/>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{{valuation_commentary}}</a:t>
            </a:r>
            <a:endParaRPr sz="800">
              <a:solidFill>
                <a:srgbClr val="0D1B3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SAARTHI Framework</a:t>
            </a:r>
            <a:endParaRPr sz="1800"/>
          </a:p>
        </p:txBody>
      </p:sp>
      <p:sp>
        <p:nvSpPr>
          <p:cNvPr id="406" name="Google Shape;406;p2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7" name="Google Shape;407;p2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08" name="Google Shape;408;p27"/>
          <p:cNvSpPr/>
          <p:nvPr/>
        </p:nvSpPr>
        <p:spPr>
          <a:xfrm>
            <a:off x="77521" y="729642"/>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09" name="Google Shape;409;p27"/>
          <p:cNvSpPr/>
          <p:nvPr/>
        </p:nvSpPr>
        <p:spPr>
          <a:xfrm>
            <a:off x="129350" y="1061243"/>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{{saarthi_s_content}}</a:t>
            </a:r>
            <a:endParaRPr sz="800">
              <a:solidFill>
                <a:schemeClr val="dk1"/>
              </a:solidFill>
              <a:latin typeface="Calibri"/>
              <a:ea typeface="Calibri"/>
              <a:cs typeface="Calibri"/>
              <a:sym typeface="Calibri"/>
            </a:endParaRPr>
          </a:p>
        </p:txBody>
      </p:sp>
      <p:sp>
        <p:nvSpPr>
          <p:cNvPr id="410" name="Google Shape;410;p27"/>
          <p:cNvSpPr/>
          <p:nvPr/>
        </p:nvSpPr>
        <p:spPr>
          <a:xfrm>
            <a:off x="77324" y="727875"/>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129350" y="774629"/>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 — Scalability of Core Engine</a:t>
            </a:r>
            <a:endParaRPr b="1" sz="1300">
              <a:solidFill>
                <a:schemeClr val="dk1"/>
              </a:solidFill>
              <a:latin typeface="Calibri"/>
              <a:ea typeface="Calibri"/>
              <a:cs typeface="Calibri"/>
              <a:sym typeface="Calibri"/>
            </a:endParaRPr>
          </a:p>
        </p:txBody>
      </p:sp>
      <p:sp>
        <p:nvSpPr>
          <p:cNvPr id="412" name="Google Shape;412;p27"/>
          <p:cNvSpPr/>
          <p:nvPr/>
        </p:nvSpPr>
        <p:spPr>
          <a:xfrm>
            <a:off x="75334" y="1747144"/>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13" name="Google Shape;413;p27"/>
          <p:cNvSpPr/>
          <p:nvPr/>
        </p:nvSpPr>
        <p:spPr>
          <a:xfrm>
            <a:off x="127163" y="2078745"/>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{{saarthi_a1_content}}</a:t>
            </a:r>
            <a:endParaRPr sz="800">
              <a:solidFill>
                <a:schemeClr val="dk1"/>
              </a:solidFill>
              <a:latin typeface="Calibri"/>
              <a:ea typeface="Calibri"/>
              <a:cs typeface="Calibri"/>
              <a:sym typeface="Calibri"/>
            </a:endParaRPr>
          </a:p>
        </p:txBody>
      </p:sp>
      <p:sp>
        <p:nvSpPr>
          <p:cNvPr id="414" name="Google Shape;414;p27"/>
          <p:cNvSpPr/>
          <p:nvPr/>
        </p:nvSpPr>
        <p:spPr>
          <a:xfrm>
            <a:off x="75137" y="1745377"/>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127163" y="1792131"/>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A — Addressable Market &amp; Adjacency</a:t>
            </a:r>
            <a:endParaRPr b="1" sz="1300">
              <a:solidFill>
                <a:schemeClr val="dk1"/>
              </a:solidFill>
              <a:latin typeface="Calibri"/>
              <a:ea typeface="Calibri"/>
              <a:cs typeface="Calibri"/>
              <a:sym typeface="Calibri"/>
            </a:endParaRPr>
          </a:p>
        </p:txBody>
      </p:sp>
      <p:sp>
        <p:nvSpPr>
          <p:cNvPr id="416" name="Google Shape;416;p27"/>
          <p:cNvSpPr/>
          <p:nvPr/>
        </p:nvSpPr>
        <p:spPr>
          <a:xfrm>
            <a:off x="73147" y="2766421"/>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17" name="Google Shape;417;p27"/>
          <p:cNvSpPr/>
          <p:nvPr/>
        </p:nvSpPr>
        <p:spPr>
          <a:xfrm>
            <a:off x="124976" y="3098022"/>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{{saarthi_a2_content}}</a:t>
            </a:r>
            <a:endParaRPr sz="800">
              <a:solidFill>
                <a:schemeClr val="dk1"/>
              </a:solidFill>
              <a:latin typeface="Calibri"/>
              <a:ea typeface="Calibri"/>
              <a:cs typeface="Calibri"/>
              <a:sym typeface="Calibri"/>
            </a:endParaRPr>
          </a:p>
        </p:txBody>
      </p:sp>
      <p:sp>
        <p:nvSpPr>
          <p:cNvPr id="418" name="Google Shape;418;p27"/>
          <p:cNvSpPr/>
          <p:nvPr/>
        </p:nvSpPr>
        <p:spPr>
          <a:xfrm>
            <a:off x="72950" y="2764654"/>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124976" y="2811408"/>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A — Asymmetric Pricing Power</a:t>
            </a:r>
            <a:endParaRPr b="1" sz="1300">
              <a:solidFill>
                <a:schemeClr val="dk1"/>
              </a:solidFill>
              <a:latin typeface="Calibri"/>
              <a:ea typeface="Calibri"/>
              <a:cs typeface="Calibri"/>
              <a:sym typeface="Calibri"/>
            </a:endParaRPr>
          </a:p>
        </p:txBody>
      </p:sp>
      <p:sp>
        <p:nvSpPr>
          <p:cNvPr id="420" name="Google Shape;420;p27"/>
          <p:cNvSpPr/>
          <p:nvPr/>
        </p:nvSpPr>
        <p:spPr>
          <a:xfrm>
            <a:off x="77619" y="3787473"/>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21" name="Google Shape;421;p27"/>
          <p:cNvSpPr/>
          <p:nvPr/>
        </p:nvSpPr>
        <p:spPr>
          <a:xfrm>
            <a:off x="129449" y="4119074"/>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{{saarthi_r_content}}</a:t>
            </a:r>
            <a:endParaRPr sz="800">
              <a:solidFill>
                <a:schemeClr val="dk1"/>
              </a:solidFill>
              <a:latin typeface="Calibri"/>
              <a:ea typeface="Calibri"/>
              <a:cs typeface="Calibri"/>
              <a:sym typeface="Calibri"/>
            </a:endParaRPr>
          </a:p>
        </p:txBody>
      </p:sp>
      <p:sp>
        <p:nvSpPr>
          <p:cNvPr id="422" name="Google Shape;422;p27"/>
          <p:cNvSpPr/>
          <p:nvPr/>
        </p:nvSpPr>
        <p:spPr>
          <a:xfrm>
            <a:off x="77423" y="3785706"/>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129449" y="3832460"/>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R — Reinvestment Quality</a:t>
            </a:r>
            <a:endParaRPr b="1" sz="1300">
              <a:solidFill>
                <a:schemeClr val="dk1"/>
              </a:solidFill>
              <a:latin typeface="Calibri"/>
              <a:ea typeface="Calibri"/>
              <a:cs typeface="Calibri"/>
              <a:sym typeface="Calibri"/>
            </a:endParaRPr>
          </a:p>
        </p:txBody>
      </p:sp>
      <p:sp>
        <p:nvSpPr>
          <p:cNvPr id="424" name="Google Shape;424;p27"/>
          <p:cNvSpPr/>
          <p:nvPr/>
        </p:nvSpPr>
        <p:spPr>
          <a:xfrm>
            <a:off x="4598721" y="729642"/>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25" name="Google Shape;425;p27"/>
          <p:cNvSpPr/>
          <p:nvPr/>
        </p:nvSpPr>
        <p:spPr>
          <a:xfrm>
            <a:off x="4650550" y="1061243"/>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{{saarthi_t_content}}</a:t>
            </a:r>
            <a:endParaRPr sz="800">
              <a:solidFill>
                <a:schemeClr val="dk1"/>
              </a:solidFill>
              <a:latin typeface="Calibri"/>
              <a:ea typeface="Calibri"/>
              <a:cs typeface="Calibri"/>
              <a:sym typeface="Calibri"/>
            </a:endParaRPr>
          </a:p>
        </p:txBody>
      </p:sp>
      <p:sp>
        <p:nvSpPr>
          <p:cNvPr id="426" name="Google Shape;426;p27"/>
          <p:cNvSpPr/>
          <p:nvPr/>
        </p:nvSpPr>
        <p:spPr>
          <a:xfrm>
            <a:off x="4598524" y="727875"/>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7"/>
          <p:cNvSpPr/>
          <p:nvPr/>
        </p:nvSpPr>
        <p:spPr>
          <a:xfrm>
            <a:off x="4650550" y="774629"/>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T — Track Record Through Adversity</a:t>
            </a:r>
            <a:endParaRPr b="1" sz="1300">
              <a:solidFill>
                <a:schemeClr val="dk1"/>
              </a:solidFill>
              <a:latin typeface="Calibri"/>
              <a:ea typeface="Calibri"/>
              <a:cs typeface="Calibri"/>
              <a:sym typeface="Calibri"/>
            </a:endParaRPr>
          </a:p>
        </p:txBody>
      </p:sp>
      <p:sp>
        <p:nvSpPr>
          <p:cNvPr id="428" name="Google Shape;428;p27"/>
          <p:cNvSpPr/>
          <p:nvPr/>
        </p:nvSpPr>
        <p:spPr>
          <a:xfrm>
            <a:off x="4596534" y="1747144"/>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29" name="Google Shape;429;p27"/>
          <p:cNvSpPr/>
          <p:nvPr/>
        </p:nvSpPr>
        <p:spPr>
          <a:xfrm>
            <a:off x="4648363" y="2078745"/>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{{saarthi_h_content}}</a:t>
            </a:r>
            <a:endParaRPr sz="800">
              <a:solidFill>
                <a:schemeClr val="dk1"/>
              </a:solidFill>
              <a:latin typeface="Calibri"/>
              <a:ea typeface="Calibri"/>
              <a:cs typeface="Calibri"/>
              <a:sym typeface="Calibri"/>
            </a:endParaRPr>
          </a:p>
        </p:txBody>
      </p:sp>
      <p:sp>
        <p:nvSpPr>
          <p:cNvPr id="430" name="Google Shape;430;p27"/>
          <p:cNvSpPr/>
          <p:nvPr/>
        </p:nvSpPr>
        <p:spPr>
          <a:xfrm>
            <a:off x="4596337" y="1745377"/>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4648363" y="1792131"/>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H — Human Capital &amp; Institutional DNA</a:t>
            </a:r>
            <a:endParaRPr b="1" sz="1300">
              <a:solidFill>
                <a:schemeClr val="dk1"/>
              </a:solidFill>
              <a:latin typeface="Calibri"/>
              <a:ea typeface="Calibri"/>
              <a:cs typeface="Calibri"/>
              <a:sym typeface="Calibri"/>
            </a:endParaRPr>
          </a:p>
        </p:txBody>
      </p:sp>
      <p:sp>
        <p:nvSpPr>
          <p:cNvPr id="432" name="Google Shape;432;p27"/>
          <p:cNvSpPr/>
          <p:nvPr/>
        </p:nvSpPr>
        <p:spPr>
          <a:xfrm>
            <a:off x="4594347" y="2766421"/>
            <a:ext cx="4422300" cy="944400"/>
          </a:xfrm>
          <a:prstGeom prst="rect">
            <a:avLst/>
          </a:prstGeom>
          <a:solidFill>
            <a:srgbClr val="FFE5B4"/>
          </a:solidFill>
          <a:ln cap="flat" cmpd="sng" w="9525">
            <a:solidFill>
              <a:srgbClr val="1B3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33" name="Google Shape;433;p27"/>
          <p:cNvSpPr/>
          <p:nvPr/>
        </p:nvSpPr>
        <p:spPr>
          <a:xfrm>
            <a:off x="4646176" y="3098022"/>
            <a:ext cx="4314300" cy="564900"/>
          </a:xfrm>
          <a:prstGeom prst="rect">
            <a:avLst/>
          </a:prstGeom>
          <a:noFill/>
          <a:ln cap="flat" cmpd="sng" w="9525">
            <a:solidFill>
              <a:srgbClr val="FFE5B4"/>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{{saarthi_i_content}}</a:t>
            </a:r>
            <a:endParaRPr sz="800">
              <a:solidFill>
                <a:schemeClr val="dk1"/>
              </a:solidFill>
              <a:latin typeface="Calibri"/>
              <a:ea typeface="Calibri"/>
              <a:cs typeface="Calibri"/>
              <a:sym typeface="Calibri"/>
            </a:endParaRPr>
          </a:p>
        </p:txBody>
      </p:sp>
      <p:sp>
        <p:nvSpPr>
          <p:cNvPr id="434" name="Google Shape;434;p27"/>
          <p:cNvSpPr/>
          <p:nvPr/>
        </p:nvSpPr>
        <p:spPr>
          <a:xfrm>
            <a:off x="4594150" y="2764654"/>
            <a:ext cx="4422300" cy="276900"/>
          </a:xfrm>
          <a:prstGeom prst="rect">
            <a:avLst/>
          </a:prstGeom>
          <a:solidFill>
            <a:srgbClr val="FFA500"/>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7"/>
          <p:cNvSpPr/>
          <p:nvPr/>
        </p:nvSpPr>
        <p:spPr>
          <a:xfrm>
            <a:off x="4646176" y="2811408"/>
            <a:ext cx="3359400" cy="183000"/>
          </a:xfrm>
          <a:prstGeom prst="rect">
            <a:avLst/>
          </a:prstGeom>
          <a:noFill/>
          <a:ln cap="flat" cmpd="sng" w="9525">
            <a:solidFill>
              <a:srgbClr val="FFA5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I — Inflection Point Identification</a:t>
            </a:r>
            <a:endParaRPr b="1" sz="1300">
              <a:solidFill>
                <a:schemeClr val="dk1"/>
              </a:solidFill>
              <a:latin typeface="Calibri"/>
              <a:ea typeface="Calibri"/>
              <a:cs typeface="Calibri"/>
              <a:sym typeface="Calibri"/>
            </a:endParaRPr>
          </a:p>
        </p:txBody>
      </p:sp>
      <p:sp>
        <p:nvSpPr>
          <p:cNvPr id="436" name="Google Shape;436;p27"/>
          <p:cNvSpPr/>
          <p:nvPr/>
        </p:nvSpPr>
        <p:spPr>
          <a:xfrm>
            <a:off x="4592425" y="3797675"/>
            <a:ext cx="44220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37" name="Google Shape;437;p27"/>
          <p:cNvSpPr/>
          <p:nvPr/>
        </p:nvSpPr>
        <p:spPr>
          <a:xfrm>
            <a:off x="4644250" y="4119074"/>
            <a:ext cx="4314000" cy="588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{{saarthi_summary_s16}}</a:t>
            </a:r>
            <a:endParaRPr sz="800">
              <a:solidFill>
                <a:schemeClr val="dk1"/>
              </a:solidFill>
              <a:latin typeface="Calibri"/>
              <a:ea typeface="Calibri"/>
              <a:cs typeface="Calibri"/>
              <a:sym typeface="Calibri"/>
            </a:endParaRPr>
          </a:p>
        </p:txBody>
      </p:sp>
      <p:sp>
        <p:nvSpPr>
          <p:cNvPr id="438" name="Google Shape;438;p2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7"/>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440" name="Google Shape;440;p2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441" name="Google Shape;441;p27"/>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442" name="Google Shape;442;p27"/>
          <p:cNvSpPr/>
          <p:nvPr/>
        </p:nvSpPr>
        <p:spPr>
          <a:xfrm>
            <a:off x="3865024" y="1744300"/>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{a1_s}</a:t>
            </a:r>
            <a:endParaRPr>
              <a:solidFill>
                <a:schemeClr val="lt1"/>
              </a:solidFill>
            </a:endParaRPr>
          </a:p>
        </p:txBody>
      </p:sp>
      <p:sp>
        <p:nvSpPr>
          <p:cNvPr id="443" name="Google Shape;443;p27"/>
          <p:cNvSpPr/>
          <p:nvPr/>
        </p:nvSpPr>
        <p:spPr>
          <a:xfrm>
            <a:off x="3865024" y="723950"/>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{s_s}</a:t>
            </a:r>
            <a:endParaRPr>
              <a:solidFill>
                <a:schemeClr val="lt1"/>
              </a:solidFill>
            </a:endParaRPr>
          </a:p>
        </p:txBody>
      </p:sp>
      <p:sp>
        <p:nvSpPr>
          <p:cNvPr id="444" name="Google Shape;444;p27"/>
          <p:cNvSpPr/>
          <p:nvPr/>
        </p:nvSpPr>
        <p:spPr>
          <a:xfrm>
            <a:off x="3865024" y="2756338"/>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{a2_s}</a:t>
            </a:r>
            <a:endParaRPr>
              <a:solidFill>
                <a:schemeClr val="lt1"/>
              </a:solidFill>
            </a:endParaRPr>
          </a:p>
        </p:txBody>
      </p:sp>
      <p:sp>
        <p:nvSpPr>
          <p:cNvPr id="445" name="Google Shape;445;p27"/>
          <p:cNvSpPr/>
          <p:nvPr/>
        </p:nvSpPr>
        <p:spPr>
          <a:xfrm>
            <a:off x="3865024" y="3776500"/>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{r_s}</a:t>
            </a:r>
            <a:endParaRPr>
              <a:solidFill>
                <a:schemeClr val="lt1"/>
              </a:solidFill>
            </a:endParaRPr>
          </a:p>
        </p:txBody>
      </p:sp>
      <p:sp>
        <p:nvSpPr>
          <p:cNvPr id="446" name="Google Shape;446;p27"/>
          <p:cNvSpPr/>
          <p:nvPr/>
        </p:nvSpPr>
        <p:spPr>
          <a:xfrm>
            <a:off x="8385924" y="726100"/>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{t_s}</a:t>
            </a:r>
            <a:endParaRPr>
              <a:solidFill>
                <a:schemeClr val="lt1"/>
              </a:solidFill>
            </a:endParaRPr>
          </a:p>
        </p:txBody>
      </p:sp>
      <p:sp>
        <p:nvSpPr>
          <p:cNvPr id="447" name="Google Shape;447;p27"/>
          <p:cNvSpPr/>
          <p:nvPr/>
        </p:nvSpPr>
        <p:spPr>
          <a:xfrm>
            <a:off x="8385924" y="1737950"/>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{h_s}</a:t>
            </a:r>
            <a:endParaRPr>
              <a:solidFill>
                <a:schemeClr val="lt1"/>
              </a:solidFill>
            </a:endParaRPr>
          </a:p>
        </p:txBody>
      </p:sp>
      <p:sp>
        <p:nvSpPr>
          <p:cNvPr id="448" name="Google Shape;448;p27"/>
          <p:cNvSpPr/>
          <p:nvPr/>
        </p:nvSpPr>
        <p:spPr>
          <a:xfrm>
            <a:off x="8385924" y="2765863"/>
            <a:ext cx="628500" cy="276900"/>
          </a:xfrm>
          <a:prstGeom prst="rect">
            <a:avLst/>
          </a:prstGeom>
          <a:solidFill>
            <a:srgbClr val="1F4690"/>
          </a:solidFill>
          <a:ln cap="flat" cmpd="sng" w="9525">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lt1"/>
                </a:solidFill>
                <a:latin typeface="Calibri"/>
                <a:ea typeface="Calibri"/>
                <a:cs typeface="Calibri"/>
                <a:sym typeface="Calibri"/>
              </a:rPr>
              <a:t>{i_s}</a:t>
            </a:r>
            <a:endParaRPr>
              <a:solidFill>
                <a:schemeClr val="lt1"/>
              </a:solidFill>
            </a:endParaRPr>
          </a:p>
        </p:txBody>
      </p:sp>
      <p:sp>
        <p:nvSpPr>
          <p:cNvPr id="449" name="Google Shape;449;p27"/>
          <p:cNvSpPr/>
          <p:nvPr/>
        </p:nvSpPr>
        <p:spPr>
          <a:xfrm>
            <a:off x="4596599" y="3792050"/>
            <a:ext cx="4422000" cy="276900"/>
          </a:xfrm>
          <a:prstGeom prst="rect">
            <a:avLst/>
          </a:prstGeom>
          <a:solidFill>
            <a:srgbClr val="1F469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SAARTHI Summary</a:t>
            </a:r>
            <a:endParaRPr b="1" sz="1200">
              <a:solidFill>
                <a:schemeClr val="lt1"/>
              </a:solidFill>
              <a:latin typeface="Calibri"/>
              <a:ea typeface="Calibri"/>
              <a:cs typeface="Calibri"/>
              <a:sym typeface="Calibri"/>
            </a:endParaRPr>
          </a:p>
        </p:txBody>
      </p:sp>
      <p:sp>
        <p:nvSpPr>
          <p:cNvPr id="450" name="Google Shape;450;p27"/>
          <p:cNvSpPr/>
          <p:nvPr/>
        </p:nvSpPr>
        <p:spPr>
          <a:xfrm>
            <a:off x="8385925" y="3793803"/>
            <a:ext cx="628500" cy="276900"/>
          </a:xfrm>
          <a:prstGeom prst="rect">
            <a:avLst/>
          </a:prstGeom>
          <a:solidFill>
            <a:srgbClr val="FFA5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1F4690"/>
                </a:solidFill>
                <a:latin typeface="Calibri"/>
                <a:ea typeface="Calibri"/>
                <a:cs typeface="Calibri"/>
                <a:sym typeface="Calibri"/>
              </a:rPr>
              <a:t>{{saarthi_s}}</a:t>
            </a:r>
            <a:endParaRPr b="1" sz="12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8"/>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Scenario Analysis</a:t>
            </a:r>
            <a:endParaRPr sz="1800"/>
          </a:p>
        </p:txBody>
      </p:sp>
      <p:sp>
        <p:nvSpPr>
          <p:cNvPr id="456" name="Google Shape;456;p2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7" name="Google Shape;457;p2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58" name="Google Shape;458;p28"/>
          <p:cNvSpPr/>
          <p:nvPr/>
        </p:nvSpPr>
        <p:spPr>
          <a:xfrm>
            <a:off x="210275" y="638725"/>
            <a:ext cx="2834700" cy="27453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8"/>
          <p:cNvSpPr/>
          <p:nvPr/>
        </p:nvSpPr>
        <p:spPr>
          <a:xfrm>
            <a:off x="210282" y="638735"/>
            <a:ext cx="2834700" cy="3840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283434"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BULL CASE </a:t>
            </a:r>
            <a:endParaRPr b="0" i="0" sz="1200" u="none" cap="none" strike="noStrike">
              <a:solidFill>
                <a:srgbClr val="000000"/>
              </a:solidFill>
              <a:latin typeface="Calibri"/>
              <a:ea typeface="Calibri"/>
              <a:cs typeface="Calibri"/>
              <a:sym typeface="Calibri"/>
            </a:endParaRPr>
          </a:p>
        </p:txBody>
      </p:sp>
      <p:sp>
        <p:nvSpPr>
          <p:cNvPr id="461" name="Google Shape;461;p28"/>
          <p:cNvSpPr/>
          <p:nvPr/>
        </p:nvSpPr>
        <p:spPr>
          <a:xfrm>
            <a:off x="301722"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400"/>
              <a:buFont typeface="Calibri"/>
              <a:buNone/>
            </a:pPr>
            <a:r>
              <a:rPr b="1" lang="en-GB" sz="2200">
                <a:solidFill>
                  <a:srgbClr val="16A34A"/>
                </a:solidFill>
                <a:latin typeface="Calibri"/>
                <a:ea typeface="Calibri"/>
                <a:cs typeface="Calibri"/>
                <a:sym typeface="Calibri"/>
              </a:rPr>
              <a:t>{{bull}}</a:t>
            </a:r>
            <a:endParaRPr b="0" i="0" sz="2200" u="none" cap="none" strike="noStrike">
              <a:solidFill>
                <a:srgbClr val="000000"/>
              </a:solidFill>
              <a:latin typeface="Calibri"/>
              <a:ea typeface="Calibri"/>
              <a:cs typeface="Calibri"/>
              <a:sym typeface="Calibri"/>
            </a:endParaRPr>
          </a:p>
        </p:txBody>
      </p:sp>
      <p:sp>
        <p:nvSpPr>
          <p:cNvPr id="462" name="Google Shape;462;p28"/>
          <p:cNvSpPr/>
          <p:nvPr/>
        </p:nvSpPr>
        <p:spPr>
          <a:xfrm>
            <a:off x="2020794" y="1095935"/>
            <a:ext cx="822900" cy="3474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8"/>
          <p:cNvSpPr/>
          <p:nvPr/>
        </p:nvSpPr>
        <p:spPr>
          <a:xfrm>
            <a:off x="2020794"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{{bull_p}}</a:t>
            </a:r>
            <a:endParaRPr b="0" i="0" sz="1000" u="none" cap="none" strike="noStrike">
              <a:solidFill>
                <a:srgbClr val="000000"/>
              </a:solidFill>
              <a:latin typeface="Calibri"/>
              <a:ea typeface="Calibri"/>
              <a:cs typeface="Calibri"/>
              <a:sym typeface="Calibri"/>
            </a:endParaRPr>
          </a:p>
        </p:txBody>
      </p:sp>
      <p:sp>
        <p:nvSpPr>
          <p:cNvPr id="464" name="Google Shape;464;p28"/>
          <p:cNvSpPr/>
          <p:nvPr/>
        </p:nvSpPr>
        <p:spPr>
          <a:xfrm>
            <a:off x="301722"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00"/>
              <a:buFont typeface="Calibri"/>
              <a:buNone/>
            </a:pPr>
            <a:r>
              <a:rPr b="1" i="0" lang="en-GB" sz="800" u="none" cap="none" strike="noStrike">
                <a:solidFill>
                  <a:srgbClr val="16A34A"/>
                </a:solidFill>
                <a:latin typeface="Calibri"/>
                <a:ea typeface="Calibri"/>
                <a:cs typeface="Calibri"/>
                <a:sym typeface="Calibri"/>
              </a:rPr>
              <a:t>Valuation: </a:t>
            </a:r>
            <a:r>
              <a:rPr b="1" lang="en-GB" sz="800">
                <a:solidFill>
                  <a:srgbClr val="16A34A"/>
                </a:solidFill>
                <a:latin typeface="Calibri"/>
                <a:ea typeface="Calibri"/>
                <a:cs typeface="Calibri"/>
                <a:sym typeface="Calibri"/>
              </a:rPr>
              <a:t>{{valuation_bull}}</a:t>
            </a:r>
            <a:endParaRPr b="0" i="0" sz="800" u="none" cap="none" strike="noStrike">
              <a:solidFill>
                <a:srgbClr val="000000"/>
              </a:solidFill>
              <a:latin typeface="Calibri"/>
              <a:ea typeface="Calibri"/>
              <a:cs typeface="Calibri"/>
              <a:sym typeface="Calibri"/>
            </a:endParaRPr>
          </a:p>
        </p:txBody>
      </p:sp>
      <p:cxnSp>
        <p:nvCxnSpPr>
          <p:cNvPr id="465" name="Google Shape;465;p28"/>
          <p:cNvCxnSpPr/>
          <p:nvPr/>
        </p:nvCxnSpPr>
        <p:spPr>
          <a:xfrm>
            <a:off x="301772" y="1793419"/>
            <a:ext cx="2651700" cy="0"/>
          </a:xfrm>
          <a:prstGeom prst="straightConnector1">
            <a:avLst/>
          </a:prstGeom>
          <a:noFill/>
          <a:ln cap="flat" cmpd="sng" w="9525">
            <a:solidFill>
              <a:srgbClr val="16A34A"/>
            </a:solidFill>
            <a:prstDash val="solid"/>
            <a:round/>
            <a:headEnd len="sm" w="sm" type="none"/>
            <a:tailEnd len="sm" w="sm" type="none"/>
          </a:ln>
        </p:spPr>
      </p:cxnSp>
      <p:sp>
        <p:nvSpPr>
          <p:cNvPr id="466" name="Google Shape;466;p28"/>
          <p:cNvSpPr/>
          <p:nvPr/>
        </p:nvSpPr>
        <p:spPr>
          <a:xfrm>
            <a:off x="301725" y="1882555"/>
            <a:ext cx="2651700" cy="1411800"/>
          </a:xfrm>
          <a:prstGeom prst="rect">
            <a:avLst/>
          </a:prstGeom>
          <a:noFill/>
          <a:ln>
            <a:noFill/>
          </a:ln>
        </p:spPr>
        <p:txBody>
          <a:bodyPr anchorCtr="0" anchor="ctr"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b="0" i="0" sz="800" u="none" cap="none" strike="noStrike">
              <a:solidFill>
                <a:srgbClr val="000000"/>
              </a:solidFill>
              <a:latin typeface="Calibri"/>
              <a:ea typeface="Calibri"/>
              <a:cs typeface="Calibri"/>
              <a:sym typeface="Calibri"/>
            </a:endParaRPr>
          </a:p>
        </p:txBody>
      </p:sp>
      <p:sp>
        <p:nvSpPr>
          <p:cNvPr id="467" name="Google Shape;467;p28"/>
          <p:cNvSpPr/>
          <p:nvPr/>
        </p:nvSpPr>
        <p:spPr>
          <a:xfrm>
            <a:off x="3154650" y="638725"/>
            <a:ext cx="2834700" cy="27453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8"/>
          <p:cNvSpPr/>
          <p:nvPr/>
        </p:nvSpPr>
        <p:spPr>
          <a:xfrm>
            <a:off x="3154650" y="638735"/>
            <a:ext cx="28347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8"/>
          <p:cNvSpPr/>
          <p:nvPr/>
        </p:nvSpPr>
        <p:spPr>
          <a:xfrm>
            <a:off x="3227802"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BASE CASE</a:t>
            </a:r>
            <a:endParaRPr b="0" i="0" sz="1200" u="none" cap="none" strike="noStrike">
              <a:solidFill>
                <a:srgbClr val="000000"/>
              </a:solidFill>
              <a:latin typeface="Calibri"/>
              <a:ea typeface="Calibri"/>
              <a:cs typeface="Calibri"/>
              <a:sym typeface="Calibri"/>
            </a:endParaRPr>
          </a:p>
        </p:txBody>
      </p:sp>
      <p:sp>
        <p:nvSpPr>
          <p:cNvPr id="470" name="Google Shape;470;p28"/>
          <p:cNvSpPr/>
          <p:nvPr/>
        </p:nvSpPr>
        <p:spPr>
          <a:xfrm>
            <a:off x="3246090"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2400"/>
              <a:buFont typeface="Calibri"/>
              <a:buNone/>
            </a:pPr>
            <a:r>
              <a:rPr b="1" lang="en-GB" sz="2200">
                <a:solidFill>
                  <a:srgbClr val="1F4690"/>
                </a:solidFill>
                <a:latin typeface="Calibri"/>
                <a:ea typeface="Calibri"/>
                <a:cs typeface="Calibri"/>
                <a:sym typeface="Calibri"/>
              </a:rPr>
              <a:t>{{base}}</a:t>
            </a:r>
            <a:endParaRPr b="0" i="0" sz="2200" u="none" cap="none" strike="noStrike">
              <a:solidFill>
                <a:srgbClr val="000000"/>
              </a:solidFill>
              <a:latin typeface="Calibri"/>
              <a:ea typeface="Calibri"/>
              <a:cs typeface="Calibri"/>
              <a:sym typeface="Calibri"/>
            </a:endParaRPr>
          </a:p>
        </p:txBody>
      </p:sp>
      <p:sp>
        <p:nvSpPr>
          <p:cNvPr id="471" name="Google Shape;471;p28"/>
          <p:cNvSpPr/>
          <p:nvPr/>
        </p:nvSpPr>
        <p:spPr>
          <a:xfrm>
            <a:off x="4965162" y="1095935"/>
            <a:ext cx="822900" cy="3474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8"/>
          <p:cNvSpPr/>
          <p:nvPr/>
        </p:nvSpPr>
        <p:spPr>
          <a:xfrm>
            <a:off x="4965162"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{{base_p}}</a:t>
            </a:r>
            <a:endParaRPr b="0" i="0" sz="1000" u="none" cap="none" strike="noStrike">
              <a:solidFill>
                <a:srgbClr val="000000"/>
              </a:solidFill>
              <a:latin typeface="Calibri"/>
              <a:ea typeface="Calibri"/>
              <a:cs typeface="Calibri"/>
              <a:sym typeface="Calibri"/>
            </a:endParaRPr>
          </a:p>
        </p:txBody>
      </p:sp>
      <p:sp>
        <p:nvSpPr>
          <p:cNvPr id="473" name="Google Shape;473;p28"/>
          <p:cNvSpPr/>
          <p:nvPr/>
        </p:nvSpPr>
        <p:spPr>
          <a:xfrm>
            <a:off x="3246090"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800"/>
              <a:buFont typeface="Calibri"/>
              <a:buNone/>
            </a:pPr>
            <a:r>
              <a:rPr b="1" lang="en-GB" sz="800">
                <a:solidFill>
                  <a:srgbClr val="1F4690"/>
                </a:solidFill>
                <a:latin typeface="Calibri"/>
                <a:ea typeface="Calibri"/>
                <a:cs typeface="Calibri"/>
                <a:sym typeface="Calibri"/>
              </a:rPr>
              <a:t>Valuation: {{valuation_base}}</a:t>
            </a:r>
            <a:endParaRPr b="1" sz="800">
              <a:solidFill>
                <a:srgbClr val="1F4690"/>
              </a:solidFill>
              <a:latin typeface="Calibri"/>
              <a:ea typeface="Calibri"/>
              <a:cs typeface="Calibri"/>
              <a:sym typeface="Calibri"/>
            </a:endParaRPr>
          </a:p>
        </p:txBody>
      </p:sp>
      <p:cxnSp>
        <p:nvCxnSpPr>
          <p:cNvPr id="474" name="Google Shape;474;p28"/>
          <p:cNvCxnSpPr/>
          <p:nvPr/>
        </p:nvCxnSpPr>
        <p:spPr>
          <a:xfrm>
            <a:off x="3246140" y="1806119"/>
            <a:ext cx="2651700" cy="0"/>
          </a:xfrm>
          <a:prstGeom prst="straightConnector1">
            <a:avLst/>
          </a:prstGeom>
          <a:noFill/>
          <a:ln cap="flat" cmpd="sng" w="9525">
            <a:solidFill>
              <a:srgbClr val="1F4690"/>
            </a:solidFill>
            <a:prstDash val="solid"/>
            <a:round/>
            <a:headEnd len="sm" w="sm" type="none"/>
            <a:tailEnd len="sm" w="sm" type="none"/>
          </a:ln>
        </p:spPr>
      </p:cxnSp>
      <p:sp>
        <p:nvSpPr>
          <p:cNvPr id="475" name="Google Shape;475;p28"/>
          <p:cNvSpPr/>
          <p:nvPr/>
        </p:nvSpPr>
        <p:spPr>
          <a:xfrm>
            <a:off x="6099025" y="638725"/>
            <a:ext cx="2834700" cy="2745300"/>
          </a:xfrm>
          <a:prstGeom prst="rect">
            <a:avLst/>
          </a:prstGeom>
          <a:solidFill>
            <a:srgbClr val="FEE2E2"/>
          </a:solidFill>
          <a:ln cap="flat" cmpd="sng" w="12700">
            <a:solidFill>
              <a:srgbClr val="DC2626"/>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8"/>
          <p:cNvSpPr/>
          <p:nvPr/>
        </p:nvSpPr>
        <p:spPr>
          <a:xfrm>
            <a:off x="6099018" y="638735"/>
            <a:ext cx="2834700" cy="3840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8"/>
          <p:cNvSpPr/>
          <p:nvPr/>
        </p:nvSpPr>
        <p:spPr>
          <a:xfrm>
            <a:off x="6172170"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BEAR CASE</a:t>
            </a:r>
            <a:endParaRPr b="0" i="0" sz="1200" u="none" cap="none" strike="noStrike">
              <a:solidFill>
                <a:srgbClr val="000000"/>
              </a:solidFill>
              <a:latin typeface="Calibri"/>
              <a:ea typeface="Calibri"/>
              <a:cs typeface="Calibri"/>
              <a:sym typeface="Calibri"/>
            </a:endParaRPr>
          </a:p>
        </p:txBody>
      </p:sp>
      <p:sp>
        <p:nvSpPr>
          <p:cNvPr id="478" name="Google Shape;478;p28"/>
          <p:cNvSpPr/>
          <p:nvPr/>
        </p:nvSpPr>
        <p:spPr>
          <a:xfrm>
            <a:off x="6190458"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400"/>
              <a:buFont typeface="Calibri"/>
              <a:buNone/>
            </a:pPr>
            <a:r>
              <a:rPr b="1" lang="en-GB" sz="2200">
                <a:solidFill>
                  <a:srgbClr val="DC2626"/>
                </a:solidFill>
                <a:latin typeface="Calibri"/>
                <a:ea typeface="Calibri"/>
                <a:cs typeface="Calibri"/>
                <a:sym typeface="Calibri"/>
              </a:rPr>
              <a:t>{{bear}}</a:t>
            </a:r>
            <a:endParaRPr b="0" i="0" sz="2200" u="none" cap="none" strike="noStrike">
              <a:solidFill>
                <a:srgbClr val="000000"/>
              </a:solidFill>
              <a:latin typeface="Calibri"/>
              <a:ea typeface="Calibri"/>
              <a:cs typeface="Calibri"/>
              <a:sym typeface="Calibri"/>
            </a:endParaRPr>
          </a:p>
        </p:txBody>
      </p:sp>
      <p:sp>
        <p:nvSpPr>
          <p:cNvPr id="479" name="Google Shape;479;p28"/>
          <p:cNvSpPr/>
          <p:nvPr/>
        </p:nvSpPr>
        <p:spPr>
          <a:xfrm>
            <a:off x="7909530" y="1095935"/>
            <a:ext cx="822900" cy="3474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8"/>
          <p:cNvSpPr/>
          <p:nvPr/>
        </p:nvSpPr>
        <p:spPr>
          <a:xfrm>
            <a:off x="7909530"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{{bear_p}}</a:t>
            </a:r>
            <a:endParaRPr b="0" i="0" sz="1000" u="none" cap="none" strike="noStrike">
              <a:solidFill>
                <a:srgbClr val="000000"/>
              </a:solidFill>
              <a:latin typeface="Calibri"/>
              <a:ea typeface="Calibri"/>
              <a:cs typeface="Calibri"/>
              <a:sym typeface="Calibri"/>
            </a:endParaRPr>
          </a:p>
        </p:txBody>
      </p:sp>
      <p:sp>
        <p:nvSpPr>
          <p:cNvPr id="481" name="Google Shape;481;p28"/>
          <p:cNvSpPr/>
          <p:nvPr/>
        </p:nvSpPr>
        <p:spPr>
          <a:xfrm>
            <a:off x="6190458"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00"/>
              <a:buFont typeface="Calibri"/>
              <a:buNone/>
            </a:pPr>
            <a:r>
              <a:rPr b="1" lang="en-GB" sz="800">
                <a:solidFill>
                  <a:srgbClr val="DC2626"/>
                </a:solidFill>
                <a:latin typeface="Calibri"/>
                <a:ea typeface="Calibri"/>
                <a:cs typeface="Calibri"/>
                <a:sym typeface="Calibri"/>
              </a:rPr>
              <a:t>Valuation: {{valuation_bear}}</a:t>
            </a:r>
            <a:endParaRPr b="1" sz="800">
              <a:solidFill>
                <a:srgbClr val="DC2626"/>
              </a:solidFill>
              <a:latin typeface="Calibri"/>
              <a:ea typeface="Calibri"/>
              <a:cs typeface="Calibri"/>
              <a:sym typeface="Calibri"/>
            </a:endParaRPr>
          </a:p>
        </p:txBody>
      </p:sp>
      <p:cxnSp>
        <p:nvCxnSpPr>
          <p:cNvPr id="482" name="Google Shape;482;p28"/>
          <p:cNvCxnSpPr/>
          <p:nvPr/>
        </p:nvCxnSpPr>
        <p:spPr>
          <a:xfrm>
            <a:off x="6190458" y="1818819"/>
            <a:ext cx="2651700" cy="0"/>
          </a:xfrm>
          <a:prstGeom prst="straightConnector1">
            <a:avLst/>
          </a:prstGeom>
          <a:noFill/>
          <a:ln cap="flat" cmpd="sng" w="9525">
            <a:solidFill>
              <a:srgbClr val="DC2626"/>
            </a:solidFill>
            <a:prstDash val="solid"/>
            <a:round/>
            <a:headEnd len="sm" w="sm" type="none"/>
            <a:tailEnd len="sm" w="sm" type="none"/>
          </a:ln>
        </p:spPr>
      </p:cxnSp>
      <p:sp>
        <p:nvSpPr>
          <p:cNvPr id="483" name="Google Shape;483;p28"/>
          <p:cNvSpPr/>
          <p:nvPr/>
        </p:nvSpPr>
        <p:spPr>
          <a:xfrm>
            <a:off x="3246150" y="1866980"/>
            <a:ext cx="2651700" cy="1427400"/>
          </a:xfrm>
          <a:prstGeom prst="rect">
            <a:avLst/>
          </a:prstGeom>
          <a:noFill/>
          <a:ln>
            <a:noFill/>
          </a:ln>
        </p:spPr>
        <p:txBody>
          <a:bodyPr anchorCtr="0" anchor="ctr"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b="0" i="0" sz="800" u="none" cap="none" strike="noStrike">
              <a:solidFill>
                <a:srgbClr val="000000"/>
              </a:solidFill>
              <a:latin typeface="Calibri"/>
              <a:ea typeface="Calibri"/>
              <a:cs typeface="Calibri"/>
              <a:sym typeface="Calibri"/>
            </a:endParaRPr>
          </a:p>
        </p:txBody>
      </p:sp>
      <p:sp>
        <p:nvSpPr>
          <p:cNvPr id="484" name="Google Shape;484;p28"/>
          <p:cNvSpPr/>
          <p:nvPr/>
        </p:nvSpPr>
        <p:spPr>
          <a:xfrm>
            <a:off x="6190575" y="1892380"/>
            <a:ext cx="2651700" cy="1411800"/>
          </a:xfrm>
          <a:prstGeom prst="rect">
            <a:avLst/>
          </a:prstGeom>
          <a:noFill/>
          <a:ln>
            <a:noFill/>
          </a:ln>
        </p:spPr>
        <p:txBody>
          <a:bodyPr anchorCtr="0" anchor="ctr"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b="0" i="0" sz="800" u="none" cap="none" strike="noStrike">
              <a:solidFill>
                <a:srgbClr val="000000"/>
              </a:solidFill>
              <a:latin typeface="Calibri"/>
              <a:ea typeface="Calibri"/>
              <a:cs typeface="Calibri"/>
              <a:sym typeface="Calibri"/>
            </a:endParaRPr>
          </a:p>
        </p:txBody>
      </p:sp>
      <p:sp>
        <p:nvSpPr>
          <p:cNvPr id="485" name="Google Shape;485;p28"/>
          <p:cNvSpPr/>
          <p:nvPr/>
        </p:nvSpPr>
        <p:spPr>
          <a:xfrm>
            <a:off x="207425" y="3465325"/>
            <a:ext cx="8726400" cy="1411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{{probability_weight_table}}</a:t>
            </a:r>
            <a:endParaRPr sz="800"/>
          </a:p>
        </p:txBody>
      </p:sp>
      <p:sp>
        <p:nvSpPr>
          <p:cNvPr id="486" name="Google Shape;486;p2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8"/>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488" name="Google Shape;488;p2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17</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489" name="Google Shape;489;p28"/>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9"/>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Key Risks &amp; Thesis Invalidation Triggers</a:t>
            </a:r>
            <a:endParaRPr sz="1800"/>
          </a:p>
        </p:txBody>
      </p:sp>
      <p:sp>
        <p:nvSpPr>
          <p:cNvPr id="495" name="Google Shape;495;p2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6" name="Google Shape;496;p2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97" name="Google Shape;497;p29"/>
          <p:cNvSpPr/>
          <p:nvPr/>
        </p:nvSpPr>
        <p:spPr>
          <a:xfrm>
            <a:off x="80425" y="668875"/>
            <a:ext cx="8991600" cy="41946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{{key_risks_table}}</a:t>
            </a:r>
            <a:endParaRPr sz="800"/>
          </a:p>
        </p:txBody>
      </p:sp>
      <p:sp>
        <p:nvSpPr>
          <p:cNvPr id="498" name="Google Shape;498;p2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500" name="Google Shape;500;p2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18</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501" name="Google Shape;501;p29"/>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0"/>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Entry, Review, &amp; Exit Investing Strategy</a:t>
            </a:r>
            <a:endParaRPr b="1" sz="1800">
              <a:solidFill>
                <a:schemeClr val="lt1"/>
              </a:solidFill>
              <a:latin typeface="Calibri"/>
              <a:ea typeface="Calibri"/>
              <a:cs typeface="Calibri"/>
              <a:sym typeface="Calibri"/>
            </a:endParaRPr>
          </a:p>
        </p:txBody>
      </p:sp>
      <p:sp>
        <p:nvSpPr>
          <p:cNvPr id="507" name="Google Shape;507;p3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8" name="Google Shape;508;p3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509" name="Google Shape;509;p30"/>
          <p:cNvSpPr/>
          <p:nvPr/>
        </p:nvSpPr>
        <p:spPr>
          <a:xfrm>
            <a:off x="210275" y="681709"/>
            <a:ext cx="2834700" cy="38370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t/>
            </a:r>
            <a:endParaRPr sz="800"/>
          </a:p>
        </p:txBody>
      </p:sp>
      <p:sp>
        <p:nvSpPr>
          <p:cNvPr id="510" name="Google Shape;510;p30"/>
          <p:cNvSpPr/>
          <p:nvPr/>
        </p:nvSpPr>
        <p:spPr>
          <a:xfrm>
            <a:off x="210282" y="682035"/>
            <a:ext cx="2834700" cy="3201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0"/>
          <p:cNvSpPr/>
          <p:nvPr/>
        </p:nvSpPr>
        <p:spPr>
          <a:xfrm>
            <a:off x="283434"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ENTRY STRATEGY</a:t>
            </a:r>
            <a:endParaRPr b="1" i="0" sz="1200" u="none" cap="none" strike="noStrike">
              <a:solidFill>
                <a:srgbClr val="000000"/>
              </a:solidFill>
              <a:latin typeface="Calibri"/>
              <a:ea typeface="Calibri"/>
              <a:cs typeface="Calibri"/>
              <a:sym typeface="Calibri"/>
            </a:endParaRPr>
          </a:p>
        </p:txBody>
      </p:sp>
      <p:sp>
        <p:nvSpPr>
          <p:cNvPr id="512" name="Google Shape;512;p30"/>
          <p:cNvSpPr/>
          <p:nvPr/>
        </p:nvSpPr>
        <p:spPr>
          <a:xfrm>
            <a:off x="3132475" y="668325"/>
            <a:ext cx="2893500" cy="3850500"/>
          </a:xfrm>
          <a:prstGeom prst="rect">
            <a:avLst/>
          </a:prstGeom>
          <a:solidFill>
            <a:srgbClr val="F4F6FB"/>
          </a:solidFill>
          <a:ln cap="flat" cmpd="sng" w="12700">
            <a:solidFill>
              <a:srgbClr val="3A5BA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0"/>
          <p:cNvSpPr/>
          <p:nvPr/>
        </p:nvSpPr>
        <p:spPr>
          <a:xfrm>
            <a:off x="3132425" y="677375"/>
            <a:ext cx="2893500" cy="320100"/>
          </a:xfrm>
          <a:prstGeom prst="rect">
            <a:avLst/>
          </a:prstGeom>
          <a:solidFill>
            <a:srgbClr val="3A5BA0"/>
          </a:solidFill>
          <a:ln cap="flat" cmpd="sng" w="12700">
            <a:solidFill>
              <a:srgbClr val="3A5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0"/>
          <p:cNvSpPr/>
          <p:nvPr/>
        </p:nvSpPr>
        <p:spPr>
          <a:xfrm>
            <a:off x="3191227" y="70497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REVIEW CHECKPOINTS</a:t>
            </a:r>
            <a:endParaRPr b="1" i="0" sz="1200" u="none" cap="none" strike="noStrike">
              <a:solidFill>
                <a:srgbClr val="000000"/>
              </a:solidFill>
              <a:latin typeface="Calibri"/>
              <a:ea typeface="Calibri"/>
              <a:cs typeface="Calibri"/>
              <a:sym typeface="Calibri"/>
            </a:endParaRPr>
          </a:p>
        </p:txBody>
      </p:sp>
      <p:sp>
        <p:nvSpPr>
          <p:cNvPr id="515" name="Google Shape;515;p30"/>
          <p:cNvSpPr/>
          <p:nvPr/>
        </p:nvSpPr>
        <p:spPr>
          <a:xfrm>
            <a:off x="6099025" y="681709"/>
            <a:ext cx="2834700" cy="3837000"/>
          </a:xfrm>
          <a:prstGeom prst="rect">
            <a:avLst/>
          </a:prstGeom>
          <a:solidFill>
            <a:srgbClr val="F4F6FB"/>
          </a:solidFill>
          <a:ln cap="flat" cmpd="sng" w="12700">
            <a:solidFill>
              <a:srgbClr val="FFA5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sz="800">
              <a:solidFill>
                <a:schemeClr val="dk1"/>
              </a:solidFill>
            </a:endParaRPr>
          </a:p>
          <a:p>
            <a:pPr indent="0" lvl="0" marL="0" rtl="0" algn="l">
              <a:spcBef>
                <a:spcPts val="0"/>
              </a:spcBef>
              <a:spcAft>
                <a:spcPts val="0"/>
              </a:spcAft>
              <a:buNone/>
            </a:pPr>
            <a:r>
              <a:t/>
            </a:r>
            <a:endParaRPr/>
          </a:p>
        </p:txBody>
      </p:sp>
      <p:sp>
        <p:nvSpPr>
          <p:cNvPr id="516" name="Google Shape;516;p30"/>
          <p:cNvSpPr/>
          <p:nvPr/>
        </p:nvSpPr>
        <p:spPr>
          <a:xfrm>
            <a:off x="6099018" y="682035"/>
            <a:ext cx="2834700" cy="3201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0"/>
          <p:cNvSpPr/>
          <p:nvPr/>
        </p:nvSpPr>
        <p:spPr>
          <a:xfrm>
            <a:off x="6172170"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EXIT STRATEGY</a:t>
            </a:r>
            <a:endParaRPr b="1" i="0" sz="1200" u="none" cap="none" strike="noStrike">
              <a:solidFill>
                <a:srgbClr val="000000"/>
              </a:solidFill>
              <a:latin typeface="Calibri"/>
              <a:ea typeface="Calibri"/>
              <a:cs typeface="Calibri"/>
              <a:sym typeface="Calibri"/>
            </a:endParaRPr>
          </a:p>
        </p:txBody>
      </p:sp>
      <p:sp>
        <p:nvSpPr>
          <p:cNvPr id="518" name="Google Shape;518;p30"/>
          <p:cNvSpPr/>
          <p:nvPr/>
        </p:nvSpPr>
        <p:spPr>
          <a:xfrm>
            <a:off x="210275" y="4602600"/>
            <a:ext cx="8723400" cy="274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FFA500"/>
              </a:buClr>
              <a:buSzPts val="800"/>
              <a:buFont typeface="Calibri"/>
              <a:buNone/>
            </a:pPr>
            <a:r>
              <a:rPr b="1" lang="en-GB" sz="1200">
                <a:solidFill>
                  <a:srgbClr val="FFA500"/>
                </a:solidFill>
                <a:latin typeface="Calibri"/>
                <a:ea typeface="Calibri"/>
                <a:cs typeface="Calibri"/>
                <a:sym typeface="Calibri"/>
              </a:rPr>
              <a:t>BUY @ ₹{{buy}}  |  Target: {{tar_pr}} |  Stop Loss: {{stp_loss}} |  Upside: {{up}}%  |  Downside Risk: {{down}}%  |  Risk/Reward: {{pnt}}x</a:t>
            </a:r>
            <a:endParaRPr sz="1200">
              <a:solidFill>
                <a:schemeClr val="dk1"/>
              </a:solidFill>
              <a:latin typeface="Calibri"/>
              <a:ea typeface="Calibri"/>
              <a:cs typeface="Calibri"/>
              <a:sym typeface="Calibri"/>
            </a:endParaRPr>
          </a:p>
        </p:txBody>
      </p:sp>
      <p:sp>
        <p:nvSpPr>
          <p:cNvPr id="519" name="Google Shape;519;p3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0"/>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521" name="Google Shape;521;p3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19</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522" name="Google Shape;522;p30"/>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523" name="Google Shape;523;p30"/>
          <p:cNvSpPr/>
          <p:nvPr/>
        </p:nvSpPr>
        <p:spPr>
          <a:xfrm>
            <a:off x="301725" y="1126319"/>
            <a:ext cx="2651700" cy="32991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{{entry_strategy}}</a:t>
            </a:r>
            <a:endParaRPr sz="800">
              <a:solidFill>
                <a:srgbClr val="0D1B3E"/>
              </a:solidFill>
              <a:latin typeface="Calibri"/>
              <a:ea typeface="Calibri"/>
              <a:cs typeface="Calibri"/>
              <a:sym typeface="Calibri"/>
            </a:endParaRPr>
          </a:p>
        </p:txBody>
      </p:sp>
      <p:sp>
        <p:nvSpPr>
          <p:cNvPr id="524" name="Google Shape;524;p30"/>
          <p:cNvSpPr/>
          <p:nvPr/>
        </p:nvSpPr>
        <p:spPr>
          <a:xfrm>
            <a:off x="3200375" y="1093125"/>
            <a:ext cx="2751600" cy="333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{{review_strategy}}</a:t>
            </a:r>
            <a:endParaRPr sz="800">
              <a:solidFill>
                <a:srgbClr val="0D1B3E"/>
              </a:solidFill>
              <a:latin typeface="Calibri"/>
              <a:ea typeface="Calibri"/>
              <a:cs typeface="Calibri"/>
              <a:sym typeface="Calibri"/>
            </a:endParaRPr>
          </a:p>
        </p:txBody>
      </p:sp>
      <p:sp>
        <p:nvSpPr>
          <p:cNvPr id="525" name="Google Shape;525;p30"/>
          <p:cNvSpPr/>
          <p:nvPr/>
        </p:nvSpPr>
        <p:spPr>
          <a:xfrm>
            <a:off x="6168425" y="1093125"/>
            <a:ext cx="2688300" cy="333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{{exit_strategy}}</a:t>
            </a:r>
            <a:endParaRPr sz="800">
              <a:solidFill>
                <a:srgbClr val="0D1B3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1"/>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Disclosure and Disclaimers</a:t>
            </a:r>
            <a:endParaRPr sz="1800"/>
          </a:p>
        </p:txBody>
      </p:sp>
      <p:sp>
        <p:nvSpPr>
          <p:cNvPr id="531" name="Google Shape;531;p3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2" name="Google Shape;532;p3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533" name="Google Shape;533;p31"/>
          <p:cNvSpPr/>
          <p:nvPr/>
        </p:nvSpPr>
        <p:spPr>
          <a:xfrm>
            <a:off x="256032" y="594360"/>
            <a:ext cx="86136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1"/>
          <p:cNvSpPr/>
          <p:nvPr/>
        </p:nvSpPr>
        <p:spPr>
          <a:xfrm>
            <a:off x="347472" y="62179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b="0" i="0" sz="850" u="none" cap="none" strike="noStrike">
              <a:solidFill>
                <a:srgbClr val="000000"/>
              </a:solidFill>
              <a:latin typeface="Calibri"/>
              <a:ea typeface="Calibri"/>
              <a:cs typeface="Calibri"/>
              <a:sym typeface="Calibri"/>
            </a:endParaRPr>
          </a:p>
        </p:txBody>
      </p:sp>
      <p:graphicFrame>
        <p:nvGraphicFramePr>
          <p:cNvPr id="535" name="Google Shape;535;p31"/>
          <p:cNvGraphicFramePr/>
          <p:nvPr/>
        </p:nvGraphicFramePr>
        <p:xfrm>
          <a:off x="256032" y="1005840"/>
          <a:ext cx="3000000" cy="3000000"/>
        </p:xfrm>
        <a:graphic>
          <a:graphicData uri="http://schemas.openxmlformats.org/drawingml/2006/table">
            <a:tbl>
              <a:tblPr>
                <a:noFill/>
                <a:tableStyleId>{0A701B65-9D87-4785-8E65-F748D9EA3CC9}</a:tableStyleId>
              </a:tblPr>
              <a:tblGrid>
                <a:gridCol w="404900"/>
                <a:gridCol w="8208750"/>
              </a:tblGrid>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Disciplinary History: No penalties / directions have been issued by SEBI under the SEBI Act or Regulations made thereunder. No pending material litigations, legal proceedings, or regulatory investigations.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2.</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Associates: No associates as defined under SEBI (Research Analyst) Regulations.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3.</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Financial Interest: Research Analyst may have financial interest or actual/beneficial ownership in securities recommended in personal portfolio. Details disclosed at time of recommendation.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4.</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Conflicts of Interest: No actual or potential conflicts of interest arising from connection to or association with any issuer. Any conflict shall be disclosed to the client as and when it arises.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5.</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6.</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Public Offerings: Research Analyst has NOT managed or co-managed any public offering of the subject company in the past 12 months.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7.</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Third-Party Benefits: Research Analyst, employees, or associates have NOT received any compensation or other benefits from the subject company or any third party in connection with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8.</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Subject Company as Client: The subject company was NOT a client of Research Analyst during twelve months preceding the date of distribution of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9.</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Officer/Director: Research Analyst, employees, or associates have NOT served as officer, director, or employee of the subject company.</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10.</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bl>
          </a:graphicData>
        </a:graphic>
      </p:graphicFrame>
      <p:sp>
        <p:nvSpPr>
          <p:cNvPr id="536" name="Google Shape;536;p31"/>
          <p:cNvSpPr/>
          <p:nvPr/>
        </p:nvSpPr>
        <p:spPr>
          <a:xfrm>
            <a:off x="256032" y="4727448"/>
            <a:ext cx="8613600" cy="2013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1"/>
          <p:cNvSpPr/>
          <p:nvPr/>
        </p:nvSpPr>
        <p:spPr>
          <a:xfrm>
            <a:off x="347472" y="4736592"/>
            <a:ext cx="8430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8EE"/>
              </a:buClr>
              <a:buSzPts val="700"/>
              <a:buFont typeface="Calibri"/>
              <a:buNone/>
            </a:pPr>
            <a:r>
              <a:rPr b="0" i="0" lang="en-GB" sz="700" u="none" cap="none" strike="noStrik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b="0" i="0" sz="700" u="none" cap="none" strike="noStrike">
              <a:solidFill>
                <a:srgbClr val="000000"/>
              </a:solidFill>
              <a:latin typeface="Calibri"/>
              <a:ea typeface="Calibri"/>
              <a:cs typeface="Calibri"/>
              <a:sym typeface="Calibri"/>
            </a:endParaRPr>
          </a:p>
        </p:txBody>
      </p:sp>
      <p:pic>
        <p:nvPicPr>
          <p:cNvPr descr="A picture containing text, whiteboard&#10;&#10;Description automatically generated" id="538" name="Google Shape;538;p31"/>
          <p:cNvPicPr preferRelativeResize="0"/>
          <p:nvPr/>
        </p:nvPicPr>
        <p:blipFill rotWithShape="1">
          <a:blip r:embed="rId4">
            <a:alphaModFix/>
          </a:blip>
          <a:srcRect b="0" l="0" r="0" t="0"/>
          <a:stretch/>
        </p:blipFill>
        <p:spPr>
          <a:xfrm>
            <a:off x="7927191" y="4218038"/>
            <a:ext cx="855125" cy="491875"/>
          </a:xfrm>
          <a:prstGeom prst="rect">
            <a:avLst/>
          </a:prstGeom>
          <a:noFill/>
          <a:ln>
            <a:noFill/>
          </a:ln>
        </p:spPr>
      </p:pic>
      <p:sp>
        <p:nvSpPr>
          <p:cNvPr id="539" name="Google Shape;539;p3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1"/>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541" name="Google Shape;541;p3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20</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542" name="Google Shape;542;p31"/>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